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3" r:id="rId4"/>
    <p:sldId id="258" r:id="rId5"/>
    <p:sldId id="259" r:id="rId6"/>
    <p:sldId id="264" r:id="rId7"/>
    <p:sldId id="260" r:id="rId8"/>
    <p:sldId id="262" r:id="rId9"/>
    <p:sldId id="265" r:id="rId10"/>
    <p:sldId id="261"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2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5442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692640" y="-1097280"/>
            <a:ext cx="4114800" cy="4114800"/>
          </a:xfrm>
          <a:prstGeom prst="ellipse">
            <a:avLst/>
          </a:prstGeom>
          <a:solidFill>
            <a:srgbClr val="EAF3F5"/>
          </a:solidFill>
          <a:ln/>
        </p:spPr>
        <p:txBody>
          <a:bodyPr/>
          <a:lstStyle/>
          <a:p>
            <a:endParaRPr lang="en-IN"/>
          </a:p>
        </p:txBody>
      </p:sp>
      <p:sp>
        <p:nvSpPr>
          <p:cNvPr id="3" name="Shape 1"/>
          <p:cNvSpPr/>
          <p:nvPr/>
        </p:nvSpPr>
        <p:spPr>
          <a:xfrm>
            <a:off x="-1280160" y="5029200"/>
            <a:ext cx="3291840" cy="3291840"/>
          </a:xfrm>
          <a:prstGeom prst="ellipse">
            <a:avLst/>
          </a:prstGeom>
          <a:solidFill>
            <a:srgbClr val="EAF3F5"/>
          </a:solidFill>
          <a:ln/>
        </p:spPr>
        <p:txBody>
          <a:bodyPr/>
          <a:lstStyle/>
          <a:p>
            <a:endParaRPr lang="en-IN"/>
          </a:p>
        </p:txBody>
      </p:sp>
      <p:sp>
        <p:nvSpPr>
          <p:cNvPr id="4" name="Text 2"/>
          <p:cNvSpPr/>
          <p:nvPr/>
        </p:nvSpPr>
        <p:spPr>
          <a:xfrm>
            <a:off x="548640" y="1554480"/>
            <a:ext cx="7315200" cy="365760"/>
          </a:xfrm>
          <a:prstGeom prst="rect">
            <a:avLst/>
          </a:prstGeom>
          <a:noFill/>
          <a:ln/>
        </p:spPr>
        <p:txBody>
          <a:bodyPr wrap="square" lIns="0" tIns="0" rIns="0" bIns="0" rtlCol="0" anchor="ctr"/>
          <a:lstStyle/>
          <a:p>
            <a:pPr marL="0" indent="0">
              <a:buNone/>
            </a:pPr>
            <a:r>
              <a:rPr lang="en-US" sz="1400" b="1" kern="0" spc="200" dirty="0">
                <a:solidFill>
                  <a:srgbClr val="1C7293"/>
                </a:solidFill>
                <a:latin typeface="Calibri" pitchFamily="34" charset="0"/>
                <a:ea typeface="Calibri" pitchFamily="34" charset="-122"/>
                <a:cs typeface="Calibri" pitchFamily="34" charset="-120"/>
              </a:rPr>
              <a:t>OSSP – REVIEW 1</a:t>
            </a:r>
            <a:endParaRPr lang="en-US" sz="1400" dirty="0"/>
          </a:p>
        </p:txBody>
      </p:sp>
      <p:sp>
        <p:nvSpPr>
          <p:cNvPr id="5" name="Text 3"/>
          <p:cNvSpPr/>
          <p:nvPr/>
        </p:nvSpPr>
        <p:spPr>
          <a:xfrm>
            <a:off x="548640" y="1965960"/>
            <a:ext cx="10515600" cy="1005840"/>
          </a:xfrm>
          <a:prstGeom prst="rect">
            <a:avLst/>
          </a:prstGeom>
          <a:noFill/>
          <a:ln/>
        </p:spPr>
        <p:txBody>
          <a:bodyPr wrap="square" lIns="0" tIns="0" rIns="0" bIns="0" rtlCol="0" anchor="ctr"/>
          <a:lstStyle/>
          <a:p>
            <a:pPr marL="0" indent="0">
              <a:buNone/>
            </a:pPr>
            <a:r>
              <a:rPr lang="en-US" sz="5400" b="1" dirty="0">
                <a:solidFill>
                  <a:srgbClr val="212121"/>
                </a:solidFill>
                <a:latin typeface="Cambria" pitchFamily="34" charset="0"/>
                <a:ea typeface="Cambria" pitchFamily="34" charset="-122"/>
                <a:cs typeface="Cambria" pitchFamily="34" charset="-120"/>
              </a:rPr>
              <a:t>IntelliShell</a:t>
            </a:r>
            <a:endParaRPr lang="en-US" sz="5400" dirty="0"/>
          </a:p>
        </p:txBody>
      </p:sp>
      <p:sp>
        <p:nvSpPr>
          <p:cNvPr id="6" name="Text 4"/>
          <p:cNvSpPr/>
          <p:nvPr/>
        </p:nvSpPr>
        <p:spPr>
          <a:xfrm>
            <a:off x="548640" y="2880360"/>
            <a:ext cx="10515600" cy="548640"/>
          </a:xfrm>
          <a:prstGeom prst="rect">
            <a:avLst/>
          </a:prstGeom>
          <a:noFill/>
          <a:ln/>
        </p:spPr>
        <p:txBody>
          <a:bodyPr wrap="square" lIns="0" tIns="0" rIns="0" bIns="0" rtlCol="0" anchor="ctr"/>
          <a:lstStyle/>
          <a:p>
            <a:pPr marL="0" indent="0">
              <a:buNone/>
            </a:pPr>
            <a:r>
              <a:rPr lang="en-US" sz="2000" i="1" dirty="0">
                <a:solidFill>
                  <a:srgbClr val="5A5A5A"/>
                </a:solidFill>
                <a:latin typeface="Calibri" pitchFamily="34" charset="0"/>
                <a:ea typeface="Calibri" pitchFamily="34" charset="-122"/>
                <a:cs typeface="Calibri" pitchFamily="34" charset="-120"/>
              </a:rPr>
              <a:t>AI-Based Smart Linux Command Shell</a:t>
            </a:r>
            <a:endParaRPr lang="en-US" sz="2000" dirty="0"/>
          </a:p>
        </p:txBody>
      </p:sp>
      <p:sp>
        <p:nvSpPr>
          <p:cNvPr id="7" name="Shape 5"/>
          <p:cNvSpPr/>
          <p:nvPr/>
        </p:nvSpPr>
        <p:spPr>
          <a:xfrm>
            <a:off x="548640" y="3611880"/>
            <a:ext cx="2743200" cy="0"/>
          </a:xfrm>
          <a:prstGeom prst="line">
            <a:avLst/>
          </a:prstGeom>
          <a:noFill/>
          <a:ln w="31750">
            <a:solidFill>
              <a:srgbClr val="1C7293"/>
            </a:solidFill>
            <a:prstDash val="solid"/>
          </a:ln>
        </p:spPr>
        <p:txBody>
          <a:bodyPr/>
          <a:lstStyle/>
          <a:p>
            <a:endParaRPr lang="en-IN"/>
          </a:p>
        </p:txBody>
      </p:sp>
      <p:sp>
        <p:nvSpPr>
          <p:cNvPr id="8" name="Text 6"/>
          <p:cNvSpPr/>
          <p:nvPr/>
        </p:nvSpPr>
        <p:spPr>
          <a:xfrm>
            <a:off x="548640" y="3931920"/>
            <a:ext cx="2743200" cy="320040"/>
          </a:xfrm>
          <a:prstGeom prst="rect">
            <a:avLst/>
          </a:prstGeom>
          <a:noFill/>
          <a:ln/>
        </p:spPr>
        <p:txBody>
          <a:bodyPr wrap="square" lIns="0" tIns="0" rIns="0" bIns="0" rtlCol="0" anchor="ctr"/>
          <a:lstStyle/>
          <a:p>
            <a:pPr marL="0" indent="0">
              <a:buNone/>
            </a:pPr>
            <a:r>
              <a:rPr lang="en-US" sz="1300" b="1" dirty="0">
                <a:solidFill>
                  <a:srgbClr val="0B3D46"/>
                </a:solidFill>
                <a:latin typeface="Calibri" pitchFamily="34" charset="0"/>
                <a:ea typeface="Calibri" pitchFamily="34" charset="-122"/>
                <a:cs typeface="Calibri" pitchFamily="34" charset="-120"/>
              </a:rPr>
              <a:t>Team</a:t>
            </a:r>
            <a:endParaRPr lang="en-US" sz="1300" dirty="0"/>
          </a:p>
        </p:txBody>
      </p:sp>
      <p:sp>
        <p:nvSpPr>
          <p:cNvPr id="9" name="Text 7"/>
          <p:cNvSpPr/>
          <p:nvPr/>
        </p:nvSpPr>
        <p:spPr>
          <a:xfrm>
            <a:off x="548640" y="4297680"/>
            <a:ext cx="5486400" cy="320040"/>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2510030406   </a:t>
            </a:r>
            <a:r>
              <a:rPr lang="en-US" sz="1400" dirty="0">
                <a:solidFill>
                  <a:srgbClr val="212121"/>
                </a:solidFill>
                <a:latin typeface="Calibri" pitchFamily="34" charset="0"/>
                <a:ea typeface="Calibri" pitchFamily="34" charset="-122"/>
                <a:cs typeface="Calibri" pitchFamily="34" charset="-120"/>
              </a:rPr>
              <a:t>Jagruthi</a:t>
            </a:r>
            <a:endParaRPr lang="en-US" sz="1400" dirty="0"/>
          </a:p>
        </p:txBody>
      </p:sp>
      <p:sp>
        <p:nvSpPr>
          <p:cNvPr id="10" name="Text 8"/>
          <p:cNvSpPr/>
          <p:nvPr/>
        </p:nvSpPr>
        <p:spPr>
          <a:xfrm>
            <a:off x="564682" y="4681728"/>
            <a:ext cx="5486400" cy="320040"/>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2510030101   </a:t>
            </a:r>
            <a:r>
              <a:rPr lang="en-US" sz="1400" dirty="0">
                <a:solidFill>
                  <a:srgbClr val="212121"/>
                </a:solidFill>
                <a:latin typeface="Calibri" pitchFamily="34" charset="0"/>
                <a:ea typeface="Calibri" pitchFamily="34" charset="-122"/>
                <a:cs typeface="Calibri" pitchFamily="34" charset="-120"/>
              </a:rPr>
              <a:t>Meghana </a:t>
            </a:r>
            <a:endParaRPr lang="en-US" sz="1400" dirty="0"/>
          </a:p>
        </p:txBody>
      </p:sp>
      <p:sp>
        <p:nvSpPr>
          <p:cNvPr id="11" name="Text 9"/>
          <p:cNvSpPr/>
          <p:nvPr/>
        </p:nvSpPr>
        <p:spPr>
          <a:xfrm>
            <a:off x="548640" y="5065776"/>
            <a:ext cx="5486400" cy="320040"/>
          </a:xfrm>
          <a:prstGeom prst="rect">
            <a:avLst/>
          </a:prstGeom>
          <a:noFill/>
          <a:ln/>
        </p:spPr>
        <p:txBody>
          <a:bodyPr wrap="square" lIns="0" tIns="0" rIns="0" bIns="0" rtlCol="0" anchor="ctr"/>
          <a:lstStyle/>
          <a:p>
            <a:r>
              <a:rPr lang="en-US" sz="1400" b="1" dirty="0">
                <a:solidFill>
                  <a:srgbClr val="1C7293"/>
                </a:solidFill>
                <a:latin typeface="Calibri" pitchFamily="34" charset="0"/>
                <a:ea typeface="Calibri" pitchFamily="34" charset="-122"/>
                <a:cs typeface="Calibri" pitchFamily="34" charset="-120"/>
              </a:rPr>
              <a:t>2510030032   </a:t>
            </a:r>
            <a:r>
              <a:rPr lang="en-IN" sz="1400" dirty="0"/>
              <a:t>Mohammed Abbubakar</a:t>
            </a:r>
            <a:endParaRPr lang="en-US" sz="1400" dirty="0"/>
          </a:p>
        </p:txBody>
      </p:sp>
      <p:sp>
        <p:nvSpPr>
          <p:cNvPr id="12" name="Text 10"/>
          <p:cNvSpPr/>
          <p:nvPr/>
        </p:nvSpPr>
        <p:spPr>
          <a:xfrm>
            <a:off x="532598" y="5449824"/>
            <a:ext cx="5486400" cy="320040"/>
          </a:xfrm>
          <a:prstGeom prst="rect">
            <a:avLst/>
          </a:prstGeom>
          <a:noFill/>
          <a:ln/>
        </p:spPr>
        <p:txBody>
          <a:bodyPr wrap="square" lIns="0" tIns="0" rIns="0" bIns="0" rtlCol="0" anchor="ctr"/>
          <a:lstStyle/>
          <a:p>
            <a:pPr marL="0" indent="0">
              <a:buNone/>
            </a:pPr>
            <a:r>
              <a:rPr lang="en-US" sz="1400" b="1" dirty="0">
                <a:solidFill>
                  <a:srgbClr val="1C7293"/>
                </a:solidFill>
                <a:latin typeface="Calibri" pitchFamily="34" charset="0"/>
                <a:ea typeface="Calibri" pitchFamily="34" charset="-122"/>
                <a:cs typeface="Calibri" pitchFamily="34" charset="-120"/>
              </a:rPr>
              <a:t>2510030155   </a:t>
            </a:r>
            <a:r>
              <a:rPr lang="en-US" sz="1400" dirty="0">
                <a:solidFill>
                  <a:srgbClr val="212121"/>
                </a:solidFill>
                <a:latin typeface="Calibri" pitchFamily="34" charset="0"/>
                <a:ea typeface="Calibri" pitchFamily="34" charset="-122"/>
                <a:cs typeface="Calibri" pitchFamily="34" charset="-120"/>
              </a:rPr>
              <a:t>Jashwanth yadav</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lgn="l">
              <a:buNone/>
            </a:pPr>
            <a:r>
              <a:rPr lang="en-US" sz="3200" b="1" dirty="0">
                <a:solidFill>
                  <a:srgbClr val="0B3D46"/>
                </a:solidFill>
                <a:latin typeface="Cambria" pitchFamily="34" charset="0"/>
                <a:ea typeface="Cambria" pitchFamily="34" charset="-122"/>
                <a:cs typeface="Cambria" pitchFamily="34" charset="-120"/>
              </a:rPr>
              <a:t>Abstract</a:t>
            </a:r>
            <a:endParaRPr lang="en-US" sz="3200" dirty="0"/>
          </a:p>
        </p:txBody>
      </p:sp>
      <p:sp>
        <p:nvSpPr>
          <p:cNvPr id="3" name="Shape 1"/>
          <p:cNvSpPr/>
          <p:nvPr/>
        </p:nvSpPr>
        <p:spPr>
          <a:xfrm>
            <a:off x="10607040" y="5394960"/>
            <a:ext cx="2103120" cy="2103120"/>
          </a:xfrm>
          <a:prstGeom prst="ellipse">
            <a:avLst/>
          </a:prstGeom>
          <a:solidFill>
            <a:srgbClr val="EAF3F5"/>
          </a:solidFill>
          <a:ln/>
        </p:spPr>
        <p:txBody>
          <a:bodyPr/>
          <a:lstStyle/>
          <a:p>
            <a:endParaRPr lang="en-IN"/>
          </a:p>
        </p:txBody>
      </p:sp>
      <p:sp>
        <p:nvSpPr>
          <p:cNvPr id="4" name="Text 2"/>
          <p:cNvSpPr/>
          <p:nvPr/>
        </p:nvSpPr>
        <p:spPr>
          <a:xfrm>
            <a:off x="548640" y="1417320"/>
            <a:ext cx="11064240" cy="1371600"/>
          </a:xfrm>
          <a:prstGeom prst="rect">
            <a:avLst/>
          </a:prstGeom>
          <a:noFill/>
          <a:ln/>
        </p:spPr>
        <p:txBody>
          <a:bodyPr wrap="square" lIns="0" tIns="0" rIns="0" bIns="0" rtlCol="0" anchor="ctr"/>
          <a:lstStyle/>
          <a:p>
            <a:pPr marL="0" indent="0" algn="l">
              <a:lnSpc>
                <a:spcPct val="125000"/>
              </a:lnSpc>
              <a:buNone/>
            </a:pPr>
            <a:r>
              <a:rPr lang="en-US" sz="1600" dirty="0">
                <a:solidFill>
                  <a:srgbClr val="212121"/>
                </a:solidFill>
                <a:latin typeface="Calibri" pitchFamily="34" charset="0"/>
                <a:ea typeface="Calibri" pitchFamily="34" charset="-122"/>
                <a:cs typeface="Calibri" pitchFamily="34" charset="-120"/>
              </a:rPr>
              <a:t>IntelliShell is an AI-based command shell for Linux that helps users write and run terminal commands using plain, natural language. Instead of memorizing exact syntax and flags, users can describe what they want to do, and the shell translates the request into a valid, safe Linux command.</a:t>
            </a:r>
            <a:endParaRPr lang="en-US" sz="1600" dirty="0"/>
          </a:p>
        </p:txBody>
      </p:sp>
      <p:sp>
        <p:nvSpPr>
          <p:cNvPr id="5" name="Shape 3"/>
          <p:cNvSpPr/>
          <p:nvPr/>
        </p:nvSpPr>
        <p:spPr>
          <a:xfrm>
            <a:off x="548640" y="3127248"/>
            <a:ext cx="109728" cy="109728"/>
          </a:xfrm>
          <a:prstGeom prst="ellipse">
            <a:avLst/>
          </a:prstGeom>
          <a:solidFill>
            <a:srgbClr val="1C7293"/>
          </a:solidFill>
          <a:ln/>
        </p:spPr>
        <p:txBody>
          <a:bodyPr/>
          <a:lstStyle/>
          <a:p>
            <a:endParaRPr lang="en-IN"/>
          </a:p>
        </p:txBody>
      </p:sp>
      <p:sp>
        <p:nvSpPr>
          <p:cNvPr id="6" name="Text 4"/>
          <p:cNvSpPr/>
          <p:nvPr/>
        </p:nvSpPr>
        <p:spPr>
          <a:xfrm>
            <a:off x="868680" y="2980944"/>
            <a:ext cx="10424160" cy="457200"/>
          </a:xfrm>
          <a:prstGeom prst="rect">
            <a:avLst/>
          </a:prstGeom>
          <a:noFill/>
          <a:ln/>
        </p:spPr>
        <p:txBody>
          <a:bodyPr wrap="square" lIns="0" tIns="0" rIns="0" bIns="0" rtlCol="0" anchor="ctr"/>
          <a:lstStyle/>
          <a:p>
            <a:pPr marL="0" indent="0">
              <a:buNone/>
            </a:pPr>
            <a:r>
              <a:rPr lang="en-US" sz="1500" dirty="0">
                <a:solidFill>
                  <a:srgbClr val="212121"/>
                </a:solidFill>
                <a:latin typeface="Calibri" pitchFamily="34" charset="0"/>
                <a:ea typeface="Calibri" pitchFamily="34" charset="-122"/>
                <a:cs typeface="Calibri" pitchFamily="34" charset="-120"/>
              </a:rPr>
              <a:t>Reduces the learning curve for beginners working with the Linux command line</a:t>
            </a:r>
            <a:endParaRPr lang="en-US" sz="1500" dirty="0"/>
          </a:p>
        </p:txBody>
      </p:sp>
      <p:sp>
        <p:nvSpPr>
          <p:cNvPr id="7" name="Shape 5"/>
          <p:cNvSpPr/>
          <p:nvPr/>
        </p:nvSpPr>
        <p:spPr>
          <a:xfrm>
            <a:off x="548640" y="3694176"/>
            <a:ext cx="109728" cy="109728"/>
          </a:xfrm>
          <a:prstGeom prst="ellipse">
            <a:avLst/>
          </a:prstGeom>
          <a:solidFill>
            <a:srgbClr val="1C7293"/>
          </a:solidFill>
          <a:ln/>
        </p:spPr>
        <p:txBody>
          <a:bodyPr/>
          <a:lstStyle/>
          <a:p>
            <a:endParaRPr lang="en-IN"/>
          </a:p>
        </p:txBody>
      </p:sp>
      <p:sp>
        <p:nvSpPr>
          <p:cNvPr id="8" name="Text 6"/>
          <p:cNvSpPr/>
          <p:nvPr/>
        </p:nvSpPr>
        <p:spPr>
          <a:xfrm>
            <a:off x="868680" y="3547872"/>
            <a:ext cx="10424160" cy="457200"/>
          </a:xfrm>
          <a:prstGeom prst="rect">
            <a:avLst/>
          </a:prstGeom>
          <a:noFill/>
          <a:ln/>
        </p:spPr>
        <p:txBody>
          <a:bodyPr wrap="square" lIns="0" tIns="0" rIns="0" bIns="0" rtlCol="0" anchor="ctr"/>
          <a:lstStyle/>
          <a:p>
            <a:pPr marL="0" indent="0">
              <a:buNone/>
            </a:pPr>
            <a:r>
              <a:rPr lang="en-US" sz="1500" dirty="0">
                <a:solidFill>
                  <a:srgbClr val="212121"/>
                </a:solidFill>
                <a:latin typeface="Calibri" pitchFamily="34" charset="0"/>
                <a:ea typeface="Calibri" pitchFamily="34" charset="-122"/>
                <a:cs typeface="Calibri" pitchFamily="34" charset="-120"/>
              </a:rPr>
              <a:t>Interprets natural-language instructions and maps them to correct shell commands</a:t>
            </a:r>
            <a:endParaRPr lang="en-US" sz="1500" dirty="0"/>
          </a:p>
        </p:txBody>
      </p:sp>
      <p:sp>
        <p:nvSpPr>
          <p:cNvPr id="9" name="Shape 7"/>
          <p:cNvSpPr/>
          <p:nvPr/>
        </p:nvSpPr>
        <p:spPr>
          <a:xfrm>
            <a:off x="548640" y="4261104"/>
            <a:ext cx="109728" cy="109728"/>
          </a:xfrm>
          <a:prstGeom prst="ellipse">
            <a:avLst/>
          </a:prstGeom>
          <a:solidFill>
            <a:srgbClr val="1C7293"/>
          </a:solidFill>
          <a:ln/>
        </p:spPr>
        <p:txBody>
          <a:bodyPr/>
          <a:lstStyle/>
          <a:p>
            <a:endParaRPr lang="en-IN"/>
          </a:p>
        </p:txBody>
      </p:sp>
      <p:sp>
        <p:nvSpPr>
          <p:cNvPr id="10" name="Text 8"/>
          <p:cNvSpPr/>
          <p:nvPr/>
        </p:nvSpPr>
        <p:spPr>
          <a:xfrm>
            <a:off x="868680" y="4114800"/>
            <a:ext cx="10424160" cy="457200"/>
          </a:xfrm>
          <a:prstGeom prst="rect">
            <a:avLst/>
          </a:prstGeom>
          <a:noFill/>
          <a:ln/>
        </p:spPr>
        <p:txBody>
          <a:bodyPr wrap="square" lIns="0" tIns="0" rIns="0" bIns="0" rtlCol="0" anchor="ctr"/>
          <a:lstStyle/>
          <a:p>
            <a:pPr marL="0" indent="0">
              <a:buNone/>
            </a:pPr>
            <a:r>
              <a:rPr lang="en-US" sz="1500" dirty="0">
                <a:solidFill>
                  <a:srgbClr val="212121"/>
                </a:solidFill>
                <a:latin typeface="Calibri" pitchFamily="34" charset="0"/>
                <a:ea typeface="Calibri" pitchFamily="34" charset="-122"/>
                <a:cs typeface="Calibri" pitchFamily="34" charset="-120"/>
              </a:rPr>
              <a:t>Adds a safety layer that flags or explains risky/destructive commands before execution</a:t>
            </a:r>
            <a:endParaRPr lang="en-US" sz="1500" dirty="0"/>
          </a:p>
        </p:txBody>
      </p:sp>
      <p:sp>
        <p:nvSpPr>
          <p:cNvPr id="11" name="Shape 9"/>
          <p:cNvSpPr/>
          <p:nvPr/>
        </p:nvSpPr>
        <p:spPr>
          <a:xfrm>
            <a:off x="548640" y="4828032"/>
            <a:ext cx="109728" cy="109728"/>
          </a:xfrm>
          <a:prstGeom prst="ellipse">
            <a:avLst/>
          </a:prstGeom>
          <a:solidFill>
            <a:srgbClr val="1C7293"/>
          </a:solidFill>
          <a:ln/>
        </p:spPr>
        <p:txBody>
          <a:bodyPr/>
          <a:lstStyle/>
          <a:p>
            <a:endParaRPr lang="en-IN"/>
          </a:p>
        </p:txBody>
      </p:sp>
      <p:sp>
        <p:nvSpPr>
          <p:cNvPr id="12" name="Text 10"/>
          <p:cNvSpPr/>
          <p:nvPr/>
        </p:nvSpPr>
        <p:spPr>
          <a:xfrm>
            <a:off x="868680" y="4681728"/>
            <a:ext cx="10424160" cy="457200"/>
          </a:xfrm>
          <a:prstGeom prst="rect">
            <a:avLst/>
          </a:prstGeom>
          <a:noFill/>
          <a:ln/>
        </p:spPr>
        <p:txBody>
          <a:bodyPr wrap="square" lIns="0" tIns="0" rIns="0" bIns="0" rtlCol="0" anchor="ctr"/>
          <a:lstStyle/>
          <a:p>
            <a:pPr marL="0" indent="0">
              <a:buNone/>
            </a:pPr>
            <a:r>
              <a:rPr lang="en-US" sz="1500" dirty="0">
                <a:solidFill>
                  <a:srgbClr val="212121"/>
                </a:solidFill>
                <a:latin typeface="Calibri" pitchFamily="34" charset="0"/>
                <a:ea typeface="Calibri" pitchFamily="34" charset="-122"/>
                <a:cs typeface="Calibri" pitchFamily="34" charset="-120"/>
              </a:rPr>
              <a:t>Aims to make the terminal faster and more accessible for everyday users</a:t>
            </a:r>
            <a:endParaRPr lang="en-US" sz="1500" dirty="0"/>
          </a:p>
        </p:txBody>
      </p:sp>
      <p:sp>
        <p:nvSpPr>
          <p:cNvPr id="13" name="Text 11"/>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5A5A5A"/>
                </a:solidFill>
                <a:latin typeface="Calibri" pitchFamily="34" charset="0"/>
                <a:ea typeface="Calibri" pitchFamily="34" charset="-122"/>
                <a:cs typeface="Calibri" pitchFamily="34" charset="-120"/>
              </a:rPr>
              <a:t>IntelliShell – AI-Based Smart Linux Command Shell</a:t>
            </a:r>
            <a:endParaRPr lang="en-US" sz="900" dirty="0"/>
          </a:p>
        </p:txBody>
      </p:sp>
      <p:sp>
        <p:nvSpPr>
          <p:cNvPr id="14" name="Text 12"/>
          <p:cNvSpPr/>
          <p:nvPr/>
        </p:nvSpPr>
        <p:spPr>
          <a:xfrm>
            <a:off x="11612880" y="6510528"/>
            <a:ext cx="36576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lgn="l">
              <a:buNone/>
            </a:pPr>
            <a:r>
              <a:rPr lang="en-US" sz="3200" b="1" dirty="0">
                <a:solidFill>
                  <a:srgbClr val="0B3D46"/>
                </a:solidFill>
                <a:latin typeface="Cambria" pitchFamily="34" charset="0"/>
                <a:ea typeface="Cambria" pitchFamily="34" charset="-122"/>
                <a:cs typeface="Cambria" pitchFamily="34" charset="-120"/>
              </a:rPr>
              <a:t>Problem Statement</a:t>
            </a:r>
            <a:endParaRPr lang="en-US" sz="3200" dirty="0"/>
          </a:p>
        </p:txBody>
      </p:sp>
      <p:sp>
        <p:nvSpPr>
          <p:cNvPr id="3" name="Shape 1"/>
          <p:cNvSpPr/>
          <p:nvPr/>
        </p:nvSpPr>
        <p:spPr>
          <a:xfrm>
            <a:off x="548640" y="1554480"/>
            <a:ext cx="11064240" cy="1005840"/>
          </a:xfrm>
          <a:prstGeom prst="roundRect">
            <a:avLst>
              <a:gd name="adj" fmla="val 7273"/>
            </a:avLst>
          </a:prstGeom>
          <a:solidFill>
            <a:srgbClr val="EAF3F5"/>
          </a:solidFill>
          <a:ln w="12700">
            <a:solidFill>
              <a:srgbClr val="E0E0E0"/>
            </a:solidFill>
            <a:prstDash val="solid"/>
          </a:ln>
        </p:spPr>
        <p:txBody>
          <a:bodyPr/>
          <a:lstStyle/>
          <a:p>
            <a:endParaRPr lang="en-IN"/>
          </a:p>
        </p:txBody>
      </p:sp>
      <p:sp>
        <p:nvSpPr>
          <p:cNvPr id="4" name="Shape 2"/>
          <p:cNvSpPr/>
          <p:nvPr/>
        </p:nvSpPr>
        <p:spPr>
          <a:xfrm>
            <a:off x="777240" y="1847088"/>
            <a:ext cx="420624" cy="420624"/>
          </a:xfrm>
          <a:prstGeom prst="ellipse">
            <a:avLst/>
          </a:prstGeom>
          <a:solidFill>
            <a:srgbClr val="1C7293"/>
          </a:solidFill>
          <a:ln/>
        </p:spPr>
        <p:txBody>
          <a:bodyPr/>
          <a:lstStyle/>
          <a:p>
            <a:endParaRPr lang="en-IN"/>
          </a:p>
        </p:txBody>
      </p:sp>
      <p:sp>
        <p:nvSpPr>
          <p:cNvPr id="5" name="Text 3"/>
          <p:cNvSpPr/>
          <p:nvPr/>
        </p:nvSpPr>
        <p:spPr>
          <a:xfrm>
            <a:off x="777240" y="184708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371600" y="1664208"/>
            <a:ext cx="9966960" cy="365760"/>
          </a:xfrm>
          <a:prstGeom prst="rect">
            <a:avLst/>
          </a:prstGeom>
          <a:noFill/>
          <a:ln/>
        </p:spPr>
        <p:txBody>
          <a:bodyPr wrap="square" lIns="0" tIns="0" rIns="0" bIns="0" rtlCol="0" anchor="ctr"/>
          <a:lstStyle/>
          <a:p>
            <a:pPr marL="0" indent="0">
              <a:buNone/>
            </a:pPr>
            <a:r>
              <a:rPr lang="en-US" sz="1500" b="1" dirty="0">
                <a:solidFill>
                  <a:srgbClr val="212121"/>
                </a:solidFill>
                <a:latin typeface="Calibri" pitchFamily="34" charset="0"/>
                <a:ea typeface="Calibri" pitchFamily="34" charset="-122"/>
                <a:cs typeface="Calibri" pitchFamily="34" charset="-120"/>
              </a:rPr>
              <a:t>Steep Learning Curve</a:t>
            </a:r>
            <a:endParaRPr lang="en-US" sz="1500" dirty="0"/>
          </a:p>
        </p:txBody>
      </p:sp>
      <p:sp>
        <p:nvSpPr>
          <p:cNvPr id="7" name="Text 5"/>
          <p:cNvSpPr/>
          <p:nvPr/>
        </p:nvSpPr>
        <p:spPr>
          <a:xfrm>
            <a:off x="1371600" y="2011680"/>
            <a:ext cx="9966960" cy="45720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New and non-technical users struggle to memorize exact Linux command syntax, flags, and options</a:t>
            </a:r>
            <a:endParaRPr lang="en-US" sz="1250" dirty="0"/>
          </a:p>
        </p:txBody>
      </p:sp>
      <p:sp>
        <p:nvSpPr>
          <p:cNvPr id="8" name="Shape 6"/>
          <p:cNvSpPr/>
          <p:nvPr/>
        </p:nvSpPr>
        <p:spPr>
          <a:xfrm>
            <a:off x="548640" y="2697480"/>
            <a:ext cx="11064240" cy="1005840"/>
          </a:xfrm>
          <a:prstGeom prst="roundRect">
            <a:avLst>
              <a:gd name="adj" fmla="val 7273"/>
            </a:avLst>
          </a:prstGeom>
          <a:solidFill>
            <a:srgbClr val="FFFFFF"/>
          </a:solidFill>
          <a:ln w="12700">
            <a:solidFill>
              <a:srgbClr val="E0E0E0"/>
            </a:solidFill>
            <a:prstDash val="solid"/>
          </a:ln>
        </p:spPr>
        <p:txBody>
          <a:bodyPr/>
          <a:lstStyle/>
          <a:p>
            <a:endParaRPr lang="en-IN"/>
          </a:p>
        </p:txBody>
      </p:sp>
      <p:sp>
        <p:nvSpPr>
          <p:cNvPr id="9" name="Shape 7"/>
          <p:cNvSpPr/>
          <p:nvPr/>
        </p:nvSpPr>
        <p:spPr>
          <a:xfrm>
            <a:off x="777240" y="2990088"/>
            <a:ext cx="420624" cy="420624"/>
          </a:xfrm>
          <a:prstGeom prst="ellipse">
            <a:avLst/>
          </a:prstGeom>
          <a:solidFill>
            <a:srgbClr val="1C7293"/>
          </a:solidFill>
          <a:ln/>
        </p:spPr>
        <p:txBody>
          <a:bodyPr/>
          <a:lstStyle/>
          <a:p>
            <a:endParaRPr lang="en-IN"/>
          </a:p>
        </p:txBody>
      </p:sp>
      <p:sp>
        <p:nvSpPr>
          <p:cNvPr id="10" name="Text 8"/>
          <p:cNvSpPr/>
          <p:nvPr/>
        </p:nvSpPr>
        <p:spPr>
          <a:xfrm>
            <a:off x="777240" y="299008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371600" y="2807208"/>
            <a:ext cx="9966960" cy="365760"/>
          </a:xfrm>
          <a:prstGeom prst="rect">
            <a:avLst/>
          </a:prstGeom>
          <a:noFill/>
          <a:ln/>
        </p:spPr>
        <p:txBody>
          <a:bodyPr wrap="square" lIns="0" tIns="0" rIns="0" bIns="0" rtlCol="0" anchor="ctr"/>
          <a:lstStyle/>
          <a:p>
            <a:pPr marL="0" indent="0">
              <a:buNone/>
            </a:pPr>
            <a:r>
              <a:rPr lang="en-US" sz="1500" b="1" dirty="0">
                <a:solidFill>
                  <a:srgbClr val="212121"/>
                </a:solidFill>
                <a:latin typeface="Calibri" pitchFamily="34" charset="0"/>
                <a:ea typeface="Calibri" pitchFamily="34" charset="-122"/>
                <a:cs typeface="Calibri" pitchFamily="34" charset="-120"/>
              </a:rPr>
              <a:t>Error-Prone Command Entry</a:t>
            </a:r>
            <a:endParaRPr lang="en-US" sz="1500" dirty="0"/>
          </a:p>
        </p:txBody>
      </p:sp>
      <p:sp>
        <p:nvSpPr>
          <p:cNvPr id="12" name="Text 10"/>
          <p:cNvSpPr/>
          <p:nvPr/>
        </p:nvSpPr>
        <p:spPr>
          <a:xfrm>
            <a:off x="1371600" y="3154680"/>
            <a:ext cx="9966960" cy="45720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Manually typing complex commands often leads to syntax mistakes and failed operations</a:t>
            </a:r>
            <a:endParaRPr lang="en-US" sz="1250" dirty="0"/>
          </a:p>
        </p:txBody>
      </p:sp>
      <p:sp>
        <p:nvSpPr>
          <p:cNvPr id="13" name="Shape 11"/>
          <p:cNvSpPr/>
          <p:nvPr/>
        </p:nvSpPr>
        <p:spPr>
          <a:xfrm>
            <a:off x="548640" y="3840480"/>
            <a:ext cx="11064240" cy="1005840"/>
          </a:xfrm>
          <a:prstGeom prst="roundRect">
            <a:avLst>
              <a:gd name="adj" fmla="val 7273"/>
            </a:avLst>
          </a:prstGeom>
          <a:solidFill>
            <a:srgbClr val="EAF3F5"/>
          </a:solidFill>
          <a:ln w="12700">
            <a:solidFill>
              <a:srgbClr val="E0E0E0"/>
            </a:solidFill>
            <a:prstDash val="solid"/>
          </a:ln>
        </p:spPr>
        <p:txBody>
          <a:bodyPr/>
          <a:lstStyle/>
          <a:p>
            <a:endParaRPr lang="en-IN"/>
          </a:p>
        </p:txBody>
      </p:sp>
      <p:sp>
        <p:nvSpPr>
          <p:cNvPr id="14" name="Shape 12"/>
          <p:cNvSpPr/>
          <p:nvPr/>
        </p:nvSpPr>
        <p:spPr>
          <a:xfrm>
            <a:off x="777240" y="4133088"/>
            <a:ext cx="420624" cy="420624"/>
          </a:xfrm>
          <a:prstGeom prst="ellipse">
            <a:avLst/>
          </a:prstGeom>
          <a:solidFill>
            <a:srgbClr val="1C7293"/>
          </a:solidFill>
          <a:ln/>
        </p:spPr>
        <p:txBody>
          <a:bodyPr/>
          <a:lstStyle/>
          <a:p>
            <a:endParaRPr lang="en-IN"/>
          </a:p>
        </p:txBody>
      </p:sp>
      <p:sp>
        <p:nvSpPr>
          <p:cNvPr id="15" name="Text 13"/>
          <p:cNvSpPr/>
          <p:nvPr/>
        </p:nvSpPr>
        <p:spPr>
          <a:xfrm>
            <a:off x="777240" y="413308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371600" y="3950208"/>
            <a:ext cx="9966960" cy="365760"/>
          </a:xfrm>
          <a:prstGeom prst="rect">
            <a:avLst/>
          </a:prstGeom>
          <a:noFill/>
          <a:ln/>
        </p:spPr>
        <p:txBody>
          <a:bodyPr wrap="square" lIns="0" tIns="0" rIns="0" bIns="0" rtlCol="0" anchor="ctr"/>
          <a:lstStyle/>
          <a:p>
            <a:pPr marL="0" indent="0">
              <a:buNone/>
            </a:pPr>
            <a:r>
              <a:rPr lang="en-US" sz="1500" b="1" dirty="0">
                <a:solidFill>
                  <a:srgbClr val="212121"/>
                </a:solidFill>
                <a:latin typeface="Calibri" pitchFamily="34" charset="0"/>
                <a:ea typeface="Calibri" pitchFamily="34" charset="-122"/>
                <a:cs typeface="Calibri" pitchFamily="34" charset="-120"/>
              </a:rPr>
              <a:t>Risk of Destructive Actions</a:t>
            </a:r>
            <a:endParaRPr lang="en-US" sz="1500" dirty="0"/>
          </a:p>
        </p:txBody>
      </p:sp>
      <p:sp>
        <p:nvSpPr>
          <p:cNvPr id="17" name="Text 15"/>
          <p:cNvSpPr/>
          <p:nvPr/>
        </p:nvSpPr>
        <p:spPr>
          <a:xfrm>
            <a:off x="1371600" y="4297680"/>
            <a:ext cx="9966960" cy="45720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Without built-in safeguards, a single wrong command can delete files or damage the system</a:t>
            </a:r>
            <a:endParaRPr lang="en-US" sz="1250" dirty="0"/>
          </a:p>
        </p:txBody>
      </p:sp>
      <p:sp>
        <p:nvSpPr>
          <p:cNvPr id="18" name="Shape 16"/>
          <p:cNvSpPr/>
          <p:nvPr/>
        </p:nvSpPr>
        <p:spPr>
          <a:xfrm>
            <a:off x="548640" y="4983480"/>
            <a:ext cx="11064240" cy="1005840"/>
          </a:xfrm>
          <a:prstGeom prst="roundRect">
            <a:avLst>
              <a:gd name="adj" fmla="val 7273"/>
            </a:avLst>
          </a:prstGeom>
          <a:solidFill>
            <a:srgbClr val="FFFFFF"/>
          </a:solidFill>
          <a:ln w="12700">
            <a:solidFill>
              <a:srgbClr val="E0E0E0"/>
            </a:solidFill>
            <a:prstDash val="solid"/>
          </a:ln>
        </p:spPr>
        <p:txBody>
          <a:bodyPr/>
          <a:lstStyle/>
          <a:p>
            <a:endParaRPr lang="en-IN"/>
          </a:p>
        </p:txBody>
      </p:sp>
      <p:sp>
        <p:nvSpPr>
          <p:cNvPr id="19" name="Shape 17"/>
          <p:cNvSpPr/>
          <p:nvPr/>
        </p:nvSpPr>
        <p:spPr>
          <a:xfrm>
            <a:off x="777240" y="5276088"/>
            <a:ext cx="420624" cy="420624"/>
          </a:xfrm>
          <a:prstGeom prst="ellipse">
            <a:avLst/>
          </a:prstGeom>
          <a:solidFill>
            <a:srgbClr val="1C7293"/>
          </a:solidFill>
          <a:ln/>
        </p:spPr>
        <p:txBody>
          <a:bodyPr/>
          <a:lstStyle/>
          <a:p>
            <a:endParaRPr lang="en-IN"/>
          </a:p>
        </p:txBody>
      </p:sp>
      <p:sp>
        <p:nvSpPr>
          <p:cNvPr id="20" name="Text 18"/>
          <p:cNvSpPr/>
          <p:nvPr/>
        </p:nvSpPr>
        <p:spPr>
          <a:xfrm>
            <a:off x="777240" y="527608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71600" y="5093208"/>
            <a:ext cx="9966960" cy="365760"/>
          </a:xfrm>
          <a:prstGeom prst="rect">
            <a:avLst/>
          </a:prstGeom>
          <a:noFill/>
          <a:ln/>
        </p:spPr>
        <p:txBody>
          <a:bodyPr wrap="square" lIns="0" tIns="0" rIns="0" bIns="0" rtlCol="0" anchor="ctr"/>
          <a:lstStyle/>
          <a:p>
            <a:pPr marL="0" indent="0">
              <a:buNone/>
            </a:pPr>
            <a:r>
              <a:rPr lang="en-US" sz="1500" b="1" dirty="0">
                <a:solidFill>
                  <a:srgbClr val="212121"/>
                </a:solidFill>
                <a:latin typeface="Calibri" pitchFamily="34" charset="0"/>
                <a:ea typeface="Calibri" pitchFamily="34" charset="-122"/>
                <a:cs typeface="Calibri" pitchFamily="34" charset="-120"/>
              </a:rPr>
              <a:t>Disconnected Assistance</a:t>
            </a:r>
            <a:endParaRPr lang="en-US" sz="1500" dirty="0"/>
          </a:p>
        </p:txBody>
      </p:sp>
      <p:sp>
        <p:nvSpPr>
          <p:cNvPr id="22" name="Text 20"/>
          <p:cNvSpPr/>
          <p:nvPr/>
        </p:nvSpPr>
        <p:spPr>
          <a:xfrm>
            <a:off x="1371600" y="5440680"/>
            <a:ext cx="9966960" cy="45720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Existing help sources — docs, forums, chatbots — are separate from the terminal, breaking workflow</a:t>
            </a:r>
            <a:endParaRPr lang="en-US" sz="1250" dirty="0"/>
          </a:p>
        </p:txBody>
      </p:sp>
      <p:sp>
        <p:nvSpPr>
          <p:cNvPr id="23" name="Text 21"/>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5A5A5A"/>
                </a:solidFill>
                <a:latin typeface="Calibri" pitchFamily="34" charset="0"/>
                <a:ea typeface="Calibri" pitchFamily="34" charset="-122"/>
                <a:cs typeface="Calibri" pitchFamily="34" charset="-120"/>
              </a:rPr>
              <a:t>IntelliShell – AI-Based Smart Linux Command Shell</a:t>
            </a:r>
            <a:endParaRPr lang="en-US" sz="900" dirty="0"/>
          </a:p>
        </p:txBody>
      </p:sp>
      <p:sp>
        <p:nvSpPr>
          <p:cNvPr id="24" name="Text 22"/>
          <p:cNvSpPr/>
          <p:nvPr/>
        </p:nvSpPr>
        <p:spPr>
          <a:xfrm>
            <a:off x="11612880" y="6510528"/>
            <a:ext cx="36576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lgn="l">
              <a:buNone/>
            </a:pPr>
            <a:r>
              <a:rPr lang="en-US" sz="3200" b="1" dirty="0">
                <a:solidFill>
                  <a:srgbClr val="0B3D46"/>
                </a:solidFill>
                <a:latin typeface="Cambria" pitchFamily="34" charset="0"/>
                <a:ea typeface="Cambria" pitchFamily="34" charset="-122"/>
                <a:cs typeface="Cambria" pitchFamily="34" charset="-120"/>
              </a:rPr>
              <a:t>Existing Model</a:t>
            </a:r>
            <a:endParaRPr lang="en-US" sz="3200" dirty="0"/>
          </a:p>
        </p:txBody>
      </p:sp>
      <p:sp>
        <p:nvSpPr>
          <p:cNvPr id="3" name="Shape 1"/>
          <p:cNvSpPr/>
          <p:nvPr/>
        </p:nvSpPr>
        <p:spPr>
          <a:xfrm>
            <a:off x="548640" y="1554480"/>
            <a:ext cx="11064240" cy="1005840"/>
          </a:xfrm>
          <a:prstGeom prst="roundRect">
            <a:avLst>
              <a:gd name="adj" fmla="val 7273"/>
            </a:avLst>
          </a:prstGeom>
          <a:solidFill>
            <a:srgbClr val="EAF3F5"/>
          </a:solidFill>
          <a:ln w="12700">
            <a:solidFill>
              <a:srgbClr val="E0E0E0"/>
            </a:solidFill>
            <a:prstDash val="solid"/>
          </a:ln>
        </p:spPr>
        <p:txBody>
          <a:bodyPr/>
          <a:lstStyle/>
          <a:p>
            <a:endParaRPr lang="en-IN"/>
          </a:p>
        </p:txBody>
      </p:sp>
      <p:sp>
        <p:nvSpPr>
          <p:cNvPr id="4" name="Shape 2"/>
          <p:cNvSpPr/>
          <p:nvPr/>
        </p:nvSpPr>
        <p:spPr>
          <a:xfrm>
            <a:off x="777240" y="1847088"/>
            <a:ext cx="420624" cy="420624"/>
          </a:xfrm>
          <a:prstGeom prst="ellipse">
            <a:avLst/>
          </a:prstGeom>
          <a:solidFill>
            <a:srgbClr val="1C7293"/>
          </a:solidFill>
          <a:ln/>
        </p:spPr>
        <p:txBody>
          <a:bodyPr/>
          <a:lstStyle/>
          <a:p>
            <a:endParaRPr lang="en-IN"/>
          </a:p>
        </p:txBody>
      </p:sp>
      <p:sp>
        <p:nvSpPr>
          <p:cNvPr id="5" name="Text 3"/>
          <p:cNvSpPr/>
          <p:nvPr/>
        </p:nvSpPr>
        <p:spPr>
          <a:xfrm>
            <a:off x="777240" y="184708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371600" y="1664208"/>
            <a:ext cx="9966960" cy="365760"/>
          </a:xfrm>
          <a:prstGeom prst="rect">
            <a:avLst/>
          </a:prstGeom>
          <a:noFill/>
          <a:ln/>
        </p:spPr>
        <p:txBody>
          <a:bodyPr wrap="square" lIns="0" tIns="0" rIns="0" bIns="0" rtlCol="0" anchor="ctr"/>
          <a:lstStyle/>
          <a:p>
            <a:pPr marL="0" indent="0">
              <a:buNone/>
            </a:pPr>
            <a:r>
              <a:rPr lang="en-US" sz="1500" b="1" dirty="0">
                <a:solidFill>
                  <a:srgbClr val="212121"/>
                </a:solidFill>
                <a:latin typeface="Calibri" pitchFamily="34" charset="0"/>
                <a:ea typeface="Calibri" pitchFamily="34" charset="-122"/>
                <a:cs typeface="Calibri" pitchFamily="34" charset="-120"/>
              </a:rPr>
              <a:t>Traditional Linux Shell</a:t>
            </a:r>
            <a:endParaRPr lang="en-US" sz="1500" dirty="0"/>
          </a:p>
        </p:txBody>
      </p:sp>
      <p:sp>
        <p:nvSpPr>
          <p:cNvPr id="7" name="Text 5"/>
          <p:cNvSpPr/>
          <p:nvPr/>
        </p:nvSpPr>
        <p:spPr>
          <a:xfrm>
            <a:off x="1371600" y="2011680"/>
            <a:ext cx="9966960" cy="45720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Requires users to know exact command syntax, flags, and options (Bash, Zsh, etc.)</a:t>
            </a:r>
            <a:endParaRPr lang="en-US" sz="1250" dirty="0"/>
          </a:p>
        </p:txBody>
      </p:sp>
      <p:sp>
        <p:nvSpPr>
          <p:cNvPr id="8" name="Shape 6"/>
          <p:cNvSpPr/>
          <p:nvPr/>
        </p:nvSpPr>
        <p:spPr>
          <a:xfrm>
            <a:off x="548640" y="2697480"/>
            <a:ext cx="11064240" cy="1005840"/>
          </a:xfrm>
          <a:prstGeom prst="roundRect">
            <a:avLst>
              <a:gd name="adj" fmla="val 7273"/>
            </a:avLst>
          </a:prstGeom>
          <a:solidFill>
            <a:srgbClr val="FFFFFF"/>
          </a:solidFill>
          <a:ln w="12700">
            <a:solidFill>
              <a:srgbClr val="E0E0E0"/>
            </a:solidFill>
            <a:prstDash val="solid"/>
          </a:ln>
        </p:spPr>
        <p:txBody>
          <a:bodyPr/>
          <a:lstStyle/>
          <a:p>
            <a:endParaRPr lang="en-IN"/>
          </a:p>
        </p:txBody>
      </p:sp>
      <p:sp>
        <p:nvSpPr>
          <p:cNvPr id="9" name="Shape 7"/>
          <p:cNvSpPr/>
          <p:nvPr/>
        </p:nvSpPr>
        <p:spPr>
          <a:xfrm>
            <a:off x="777240" y="2990088"/>
            <a:ext cx="420624" cy="420624"/>
          </a:xfrm>
          <a:prstGeom prst="ellipse">
            <a:avLst/>
          </a:prstGeom>
          <a:solidFill>
            <a:srgbClr val="1C7293"/>
          </a:solidFill>
          <a:ln/>
        </p:spPr>
        <p:txBody>
          <a:bodyPr/>
          <a:lstStyle/>
          <a:p>
            <a:endParaRPr lang="en-IN"/>
          </a:p>
        </p:txBody>
      </p:sp>
      <p:sp>
        <p:nvSpPr>
          <p:cNvPr id="10" name="Text 8"/>
          <p:cNvSpPr/>
          <p:nvPr/>
        </p:nvSpPr>
        <p:spPr>
          <a:xfrm>
            <a:off x="777240" y="299008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371600" y="2807208"/>
            <a:ext cx="9966960" cy="365760"/>
          </a:xfrm>
          <a:prstGeom prst="rect">
            <a:avLst/>
          </a:prstGeom>
          <a:noFill/>
          <a:ln/>
        </p:spPr>
        <p:txBody>
          <a:bodyPr wrap="square" lIns="0" tIns="0" rIns="0" bIns="0" rtlCol="0" anchor="ctr"/>
          <a:lstStyle/>
          <a:p>
            <a:pPr marL="0" indent="0">
              <a:buNone/>
            </a:pPr>
            <a:r>
              <a:rPr lang="en-US" sz="1500" b="1" dirty="0">
                <a:solidFill>
                  <a:srgbClr val="212121"/>
                </a:solidFill>
                <a:latin typeface="Calibri" pitchFamily="34" charset="0"/>
                <a:ea typeface="Calibri" pitchFamily="34" charset="-122"/>
                <a:cs typeface="Calibri" pitchFamily="34" charset="-120"/>
              </a:rPr>
              <a:t>Man Pages / Documentation</a:t>
            </a:r>
            <a:endParaRPr lang="en-US" sz="1500" dirty="0"/>
          </a:p>
        </p:txBody>
      </p:sp>
      <p:sp>
        <p:nvSpPr>
          <p:cNvPr id="12" name="Text 10"/>
          <p:cNvSpPr/>
          <p:nvPr/>
        </p:nvSpPr>
        <p:spPr>
          <a:xfrm>
            <a:off x="1371600" y="3154680"/>
            <a:ext cx="9966960" cy="45720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Users must manually search and read documentation to find the right command</a:t>
            </a:r>
            <a:endParaRPr lang="en-US" sz="1250" dirty="0"/>
          </a:p>
        </p:txBody>
      </p:sp>
      <p:sp>
        <p:nvSpPr>
          <p:cNvPr id="13" name="Shape 11"/>
          <p:cNvSpPr/>
          <p:nvPr/>
        </p:nvSpPr>
        <p:spPr>
          <a:xfrm>
            <a:off x="548640" y="3840480"/>
            <a:ext cx="11064240" cy="1005840"/>
          </a:xfrm>
          <a:prstGeom prst="roundRect">
            <a:avLst>
              <a:gd name="adj" fmla="val 7273"/>
            </a:avLst>
          </a:prstGeom>
          <a:solidFill>
            <a:srgbClr val="EAF3F5"/>
          </a:solidFill>
          <a:ln w="12700">
            <a:solidFill>
              <a:srgbClr val="E0E0E0"/>
            </a:solidFill>
            <a:prstDash val="solid"/>
          </a:ln>
        </p:spPr>
        <p:txBody>
          <a:bodyPr/>
          <a:lstStyle/>
          <a:p>
            <a:endParaRPr lang="en-IN"/>
          </a:p>
        </p:txBody>
      </p:sp>
      <p:sp>
        <p:nvSpPr>
          <p:cNvPr id="14" name="Shape 12"/>
          <p:cNvSpPr/>
          <p:nvPr/>
        </p:nvSpPr>
        <p:spPr>
          <a:xfrm>
            <a:off x="777240" y="4133088"/>
            <a:ext cx="420624" cy="420624"/>
          </a:xfrm>
          <a:prstGeom prst="ellipse">
            <a:avLst/>
          </a:prstGeom>
          <a:solidFill>
            <a:srgbClr val="1C7293"/>
          </a:solidFill>
          <a:ln/>
        </p:spPr>
        <p:txBody>
          <a:bodyPr/>
          <a:lstStyle/>
          <a:p>
            <a:endParaRPr lang="en-IN"/>
          </a:p>
        </p:txBody>
      </p:sp>
      <p:sp>
        <p:nvSpPr>
          <p:cNvPr id="15" name="Text 13"/>
          <p:cNvSpPr/>
          <p:nvPr/>
        </p:nvSpPr>
        <p:spPr>
          <a:xfrm>
            <a:off x="777240" y="413308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371600" y="3950208"/>
            <a:ext cx="9966960" cy="365760"/>
          </a:xfrm>
          <a:prstGeom prst="rect">
            <a:avLst/>
          </a:prstGeom>
          <a:noFill/>
          <a:ln/>
        </p:spPr>
        <p:txBody>
          <a:bodyPr wrap="square" lIns="0" tIns="0" rIns="0" bIns="0" rtlCol="0" anchor="ctr"/>
          <a:lstStyle/>
          <a:p>
            <a:pPr marL="0" indent="0">
              <a:buNone/>
            </a:pPr>
            <a:r>
              <a:rPr lang="en-US" sz="1500" b="1" dirty="0">
                <a:solidFill>
                  <a:srgbClr val="212121"/>
                </a:solidFill>
                <a:latin typeface="Calibri" pitchFamily="34" charset="0"/>
                <a:ea typeface="Calibri" pitchFamily="34" charset="-122"/>
                <a:cs typeface="Calibri" pitchFamily="34" charset="-120"/>
              </a:rPr>
              <a:t>Basic Autocomplete</a:t>
            </a:r>
            <a:endParaRPr lang="en-US" sz="1500" dirty="0"/>
          </a:p>
        </p:txBody>
      </p:sp>
      <p:sp>
        <p:nvSpPr>
          <p:cNvPr id="17" name="Text 15"/>
          <p:cNvSpPr/>
          <p:nvPr/>
        </p:nvSpPr>
        <p:spPr>
          <a:xfrm>
            <a:off x="1371600" y="4297680"/>
            <a:ext cx="9966960" cy="45720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Shell autocomplete only suggests known commands/paths — no understanding of intent</a:t>
            </a:r>
            <a:endParaRPr lang="en-US" sz="1250" dirty="0"/>
          </a:p>
        </p:txBody>
      </p:sp>
      <p:sp>
        <p:nvSpPr>
          <p:cNvPr id="18" name="Shape 16"/>
          <p:cNvSpPr/>
          <p:nvPr/>
        </p:nvSpPr>
        <p:spPr>
          <a:xfrm>
            <a:off x="548640" y="4983480"/>
            <a:ext cx="11064240" cy="1005840"/>
          </a:xfrm>
          <a:prstGeom prst="roundRect">
            <a:avLst>
              <a:gd name="adj" fmla="val 7273"/>
            </a:avLst>
          </a:prstGeom>
          <a:solidFill>
            <a:srgbClr val="FFFFFF"/>
          </a:solidFill>
          <a:ln w="12700">
            <a:solidFill>
              <a:srgbClr val="E0E0E0"/>
            </a:solidFill>
            <a:prstDash val="solid"/>
          </a:ln>
        </p:spPr>
        <p:txBody>
          <a:bodyPr/>
          <a:lstStyle/>
          <a:p>
            <a:endParaRPr lang="en-IN"/>
          </a:p>
        </p:txBody>
      </p:sp>
      <p:sp>
        <p:nvSpPr>
          <p:cNvPr id="19" name="Shape 17"/>
          <p:cNvSpPr/>
          <p:nvPr/>
        </p:nvSpPr>
        <p:spPr>
          <a:xfrm>
            <a:off x="777240" y="5276088"/>
            <a:ext cx="420624" cy="420624"/>
          </a:xfrm>
          <a:prstGeom prst="ellipse">
            <a:avLst/>
          </a:prstGeom>
          <a:solidFill>
            <a:srgbClr val="1C7293"/>
          </a:solidFill>
          <a:ln/>
        </p:spPr>
        <p:txBody>
          <a:bodyPr/>
          <a:lstStyle/>
          <a:p>
            <a:endParaRPr lang="en-IN"/>
          </a:p>
        </p:txBody>
      </p:sp>
      <p:sp>
        <p:nvSpPr>
          <p:cNvPr id="20" name="Text 18"/>
          <p:cNvSpPr/>
          <p:nvPr/>
        </p:nvSpPr>
        <p:spPr>
          <a:xfrm>
            <a:off x="777240" y="5276088"/>
            <a:ext cx="420624" cy="42062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71600" y="5093208"/>
            <a:ext cx="9966960" cy="365760"/>
          </a:xfrm>
          <a:prstGeom prst="rect">
            <a:avLst/>
          </a:prstGeom>
          <a:noFill/>
          <a:ln/>
        </p:spPr>
        <p:txBody>
          <a:bodyPr wrap="square" lIns="0" tIns="0" rIns="0" bIns="0" rtlCol="0" anchor="ctr"/>
          <a:lstStyle/>
          <a:p>
            <a:pPr marL="0" indent="0">
              <a:buNone/>
            </a:pPr>
            <a:r>
              <a:rPr lang="en-US" sz="1500" b="1" dirty="0">
                <a:solidFill>
                  <a:srgbClr val="212121"/>
                </a:solidFill>
                <a:latin typeface="Calibri" pitchFamily="34" charset="0"/>
                <a:ea typeface="Calibri" pitchFamily="34" charset="-122"/>
                <a:cs typeface="Calibri" pitchFamily="34" charset="-120"/>
              </a:rPr>
              <a:t>Generic AI Chat Tools</a:t>
            </a:r>
            <a:endParaRPr lang="en-US" sz="1500" dirty="0"/>
          </a:p>
        </p:txBody>
      </p:sp>
      <p:sp>
        <p:nvSpPr>
          <p:cNvPr id="22" name="Text 20"/>
          <p:cNvSpPr/>
          <p:nvPr/>
        </p:nvSpPr>
        <p:spPr>
          <a:xfrm>
            <a:off x="1371600" y="5440680"/>
            <a:ext cx="9966960" cy="45720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General-purpose chatbots can suggest commands but aren't integrated into the shell itself</a:t>
            </a:r>
            <a:endParaRPr lang="en-US" sz="1250" dirty="0"/>
          </a:p>
        </p:txBody>
      </p:sp>
      <p:sp>
        <p:nvSpPr>
          <p:cNvPr id="23" name="Text 21"/>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5A5A5A"/>
                </a:solidFill>
                <a:latin typeface="Calibri" pitchFamily="34" charset="0"/>
                <a:ea typeface="Calibri" pitchFamily="34" charset="-122"/>
                <a:cs typeface="Calibri" pitchFamily="34" charset="-120"/>
              </a:rPr>
              <a:t>IntelliShell – AI-Based Smart Linux Command Shell</a:t>
            </a:r>
            <a:endParaRPr lang="en-US" sz="900" dirty="0"/>
          </a:p>
        </p:txBody>
      </p:sp>
      <p:sp>
        <p:nvSpPr>
          <p:cNvPr id="24" name="Text 22"/>
          <p:cNvSpPr/>
          <p:nvPr/>
        </p:nvSpPr>
        <p:spPr>
          <a:xfrm>
            <a:off x="11612880" y="6510528"/>
            <a:ext cx="36576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lgn="l">
              <a:buNone/>
            </a:pPr>
            <a:r>
              <a:rPr lang="en-US" sz="3200" b="1" dirty="0">
                <a:solidFill>
                  <a:srgbClr val="0B3D46"/>
                </a:solidFill>
                <a:latin typeface="Cambria" pitchFamily="34" charset="0"/>
                <a:ea typeface="Cambria" pitchFamily="34" charset="-122"/>
                <a:cs typeface="Cambria" pitchFamily="34" charset="-120"/>
              </a:rPr>
              <a:t>Drawbacks of Existing System</a:t>
            </a:r>
            <a:endParaRPr lang="en-US" sz="3200" dirty="0"/>
          </a:p>
        </p:txBody>
      </p:sp>
      <p:sp>
        <p:nvSpPr>
          <p:cNvPr id="3" name="Shape 1"/>
          <p:cNvSpPr/>
          <p:nvPr/>
        </p:nvSpPr>
        <p:spPr>
          <a:xfrm>
            <a:off x="548640" y="1554480"/>
            <a:ext cx="5349240" cy="1188720"/>
          </a:xfrm>
          <a:prstGeom prst="roundRect">
            <a:avLst>
              <a:gd name="adj" fmla="val 6154"/>
            </a:avLst>
          </a:prstGeom>
          <a:solidFill>
            <a:srgbClr val="EAF3F5"/>
          </a:solidFill>
          <a:ln/>
        </p:spPr>
        <p:txBody>
          <a:bodyPr/>
          <a:lstStyle/>
          <a:p>
            <a:endParaRPr lang="en-IN"/>
          </a:p>
        </p:txBody>
      </p:sp>
      <p:sp>
        <p:nvSpPr>
          <p:cNvPr id="4" name="Shape 2"/>
          <p:cNvSpPr/>
          <p:nvPr/>
        </p:nvSpPr>
        <p:spPr>
          <a:xfrm>
            <a:off x="749808" y="1737360"/>
            <a:ext cx="365760" cy="365760"/>
          </a:xfrm>
          <a:prstGeom prst="ellipse">
            <a:avLst/>
          </a:prstGeom>
          <a:solidFill>
            <a:srgbClr val="FFFFFF"/>
          </a:solidFill>
          <a:ln w="19050">
            <a:solidFill>
              <a:srgbClr val="1C7293"/>
            </a:solidFill>
            <a:prstDash val="solid"/>
          </a:ln>
        </p:spPr>
        <p:txBody>
          <a:bodyPr/>
          <a:lstStyle/>
          <a:p>
            <a:endParaRPr lang="en-IN"/>
          </a:p>
        </p:txBody>
      </p:sp>
      <p:sp>
        <p:nvSpPr>
          <p:cNvPr id="5" name="Text 3"/>
          <p:cNvSpPr/>
          <p:nvPr/>
        </p:nvSpPr>
        <p:spPr>
          <a:xfrm>
            <a:off x="749808" y="1737360"/>
            <a:ext cx="365760" cy="365760"/>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
        <p:nvSpPr>
          <p:cNvPr id="6" name="Text 4"/>
          <p:cNvSpPr/>
          <p:nvPr/>
        </p:nvSpPr>
        <p:spPr>
          <a:xfrm>
            <a:off x="1261872" y="1673352"/>
            <a:ext cx="4434840" cy="960120"/>
          </a:xfrm>
          <a:prstGeom prst="rect">
            <a:avLst/>
          </a:prstGeom>
          <a:noFill/>
          <a:ln/>
        </p:spPr>
        <p:txBody>
          <a:bodyPr wrap="square" lIns="0" tIns="0" rIns="0" bIns="0" rtlCol="0" anchor="ctr"/>
          <a:lstStyle/>
          <a:p>
            <a:pPr marL="0" indent="0">
              <a:lnSpc>
                <a:spcPct val="115000"/>
              </a:lnSpc>
              <a:buNone/>
            </a:pPr>
            <a:r>
              <a:rPr lang="en-US" sz="1350" dirty="0">
                <a:solidFill>
                  <a:srgbClr val="212121"/>
                </a:solidFill>
                <a:latin typeface="Calibri" pitchFamily="34" charset="0"/>
                <a:ea typeface="Calibri" pitchFamily="34" charset="-122"/>
                <a:cs typeface="Calibri" pitchFamily="34" charset="-120"/>
              </a:rPr>
              <a:t>Steep learning curve for new or non-technical users</a:t>
            </a:r>
            <a:endParaRPr lang="en-US" sz="1350" dirty="0"/>
          </a:p>
        </p:txBody>
      </p:sp>
      <p:sp>
        <p:nvSpPr>
          <p:cNvPr id="7" name="Shape 5"/>
          <p:cNvSpPr/>
          <p:nvPr/>
        </p:nvSpPr>
        <p:spPr>
          <a:xfrm>
            <a:off x="6263640" y="1554480"/>
            <a:ext cx="5349240" cy="1188720"/>
          </a:xfrm>
          <a:prstGeom prst="roundRect">
            <a:avLst>
              <a:gd name="adj" fmla="val 6154"/>
            </a:avLst>
          </a:prstGeom>
          <a:solidFill>
            <a:srgbClr val="EAF3F5"/>
          </a:solidFill>
          <a:ln/>
        </p:spPr>
        <p:txBody>
          <a:bodyPr/>
          <a:lstStyle/>
          <a:p>
            <a:endParaRPr lang="en-IN"/>
          </a:p>
        </p:txBody>
      </p:sp>
      <p:sp>
        <p:nvSpPr>
          <p:cNvPr id="8" name="Shape 6"/>
          <p:cNvSpPr/>
          <p:nvPr/>
        </p:nvSpPr>
        <p:spPr>
          <a:xfrm>
            <a:off x="6464808" y="1737360"/>
            <a:ext cx="365760" cy="365760"/>
          </a:xfrm>
          <a:prstGeom prst="ellipse">
            <a:avLst/>
          </a:prstGeom>
          <a:solidFill>
            <a:srgbClr val="FFFFFF"/>
          </a:solidFill>
          <a:ln w="19050">
            <a:solidFill>
              <a:srgbClr val="1C7293"/>
            </a:solidFill>
            <a:prstDash val="solid"/>
          </a:ln>
        </p:spPr>
        <p:txBody>
          <a:bodyPr/>
          <a:lstStyle/>
          <a:p>
            <a:endParaRPr lang="en-IN"/>
          </a:p>
        </p:txBody>
      </p:sp>
      <p:sp>
        <p:nvSpPr>
          <p:cNvPr id="9" name="Text 7"/>
          <p:cNvSpPr/>
          <p:nvPr/>
        </p:nvSpPr>
        <p:spPr>
          <a:xfrm>
            <a:off x="6464808" y="1737360"/>
            <a:ext cx="365760" cy="365760"/>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6976872" y="1673352"/>
            <a:ext cx="4434840" cy="960120"/>
          </a:xfrm>
          <a:prstGeom prst="rect">
            <a:avLst/>
          </a:prstGeom>
          <a:noFill/>
          <a:ln/>
        </p:spPr>
        <p:txBody>
          <a:bodyPr wrap="square" lIns="0" tIns="0" rIns="0" bIns="0" rtlCol="0" anchor="ctr"/>
          <a:lstStyle/>
          <a:p>
            <a:pPr marL="0" indent="0">
              <a:lnSpc>
                <a:spcPct val="115000"/>
              </a:lnSpc>
              <a:buNone/>
            </a:pPr>
            <a:r>
              <a:rPr lang="en-US" sz="1350" dirty="0">
                <a:solidFill>
                  <a:srgbClr val="212121"/>
                </a:solidFill>
                <a:latin typeface="Calibri" pitchFamily="34" charset="0"/>
                <a:ea typeface="Calibri" pitchFamily="34" charset="-122"/>
                <a:cs typeface="Calibri" pitchFamily="34" charset="-120"/>
              </a:rPr>
              <a:t>High chance of syntax errors when typing complex commands</a:t>
            </a:r>
            <a:endParaRPr lang="en-US" sz="1350" dirty="0"/>
          </a:p>
        </p:txBody>
      </p:sp>
      <p:sp>
        <p:nvSpPr>
          <p:cNvPr id="11" name="Shape 9"/>
          <p:cNvSpPr/>
          <p:nvPr/>
        </p:nvSpPr>
        <p:spPr>
          <a:xfrm>
            <a:off x="548640" y="2971800"/>
            <a:ext cx="5349240" cy="1188720"/>
          </a:xfrm>
          <a:prstGeom prst="roundRect">
            <a:avLst>
              <a:gd name="adj" fmla="val 6154"/>
            </a:avLst>
          </a:prstGeom>
          <a:solidFill>
            <a:srgbClr val="EAF3F5"/>
          </a:solidFill>
          <a:ln/>
        </p:spPr>
        <p:txBody>
          <a:bodyPr/>
          <a:lstStyle/>
          <a:p>
            <a:endParaRPr lang="en-IN"/>
          </a:p>
        </p:txBody>
      </p:sp>
      <p:sp>
        <p:nvSpPr>
          <p:cNvPr id="12" name="Shape 10"/>
          <p:cNvSpPr/>
          <p:nvPr/>
        </p:nvSpPr>
        <p:spPr>
          <a:xfrm>
            <a:off x="749808" y="3154680"/>
            <a:ext cx="365760" cy="365760"/>
          </a:xfrm>
          <a:prstGeom prst="ellipse">
            <a:avLst/>
          </a:prstGeom>
          <a:solidFill>
            <a:srgbClr val="FFFFFF"/>
          </a:solidFill>
          <a:ln w="19050">
            <a:solidFill>
              <a:srgbClr val="1C7293"/>
            </a:solidFill>
            <a:prstDash val="solid"/>
          </a:ln>
        </p:spPr>
        <p:txBody>
          <a:bodyPr/>
          <a:lstStyle/>
          <a:p>
            <a:endParaRPr lang="en-IN"/>
          </a:p>
        </p:txBody>
      </p:sp>
      <p:sp>
        <p:nvSpPr>
          <p:cNvPr id="13" name="Text 11"/>
          <p:cNvSpPr/>
          <p:nvPr/>
        </p:nvSpPr>
        <p:spPr>
          <a:xfrm>
            <a:off x="749808" y="3154680"/>
            <a:ext cx="365760" cy="365760"/>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1261872" y="3090672"/>
            <a:ext cx="4434840" cy="960120"/>
          </a:xfrm>
          <a:prstGeom prst="rect">
            <a:avLst/>
          </a:prstGeom>
          <a:noFill/>
          <a:ln/>
        </p:spPr>
        <p:txBody>
          <a:bodyPr wrap="square" lIns="0" tIns="0" rIns="0" bIns="0" rtlCol="0" anchor="ctr"/>
          <a:lstStyle/>
          <a:p>
            <a:pPr marL="0" indent="0">
              <a:lnSpc>
                <a:spcPct val="115000"/>
              </a:lnSpc>
              <a:buNone/>
            </a:pPr>
            <a:r>
              <a:rPr lang="en-US" sz="1350" dirty="0">
                <a:solidFill>
                  <a:srgbClr val="212121"/>
                </a:solidFill>
                <a:latin typeface="Calibri" pitchFamily="34" charset="0"/>
                <a:ea typeface="Calibri" pitchFamily="34" charset="-122"/>
                <a:cs typeface="Calibri" pitchFamily="34" charset="-120"/>
              </a:rPr>
              <a:t>No built-in safeguard against accidentally destructive commands</a:t>
            </a:r>
            <a:endParaRPr lang="en-US" sz="1350" dirty="0"/>
          </a:p>
        </p:txBody>
      </p:sp>
      <p:sp>
        <p:nvSpPr>
          <p:cNvPr id="15" name="Shape 13"/>
          <p:cNvSpPr/>
          <p:nvPr/>
        </p:nvSpPr>
        <p:spPr>
          <a:xfrm>
            <a:off x="6263640" y="2971800"/>
            <a:ext cx="5349240" cy="1188720"/>
          </a:xfrm>
          <a:prstGeom prst="roundRect">
            <a:avLst>
              <a:gd name="adj" fmla="val 6154"/>
            </a:avLst>
          </a:prstGeom>
          <a:solidFill>
            <a:srgbClr val="EAF3F5"/>
          </a:solidFill>
          <a:ln/>
        </p:spPr>
        <p:txBody>
          <a:bodyPr/>
          <a:lstStyle/>
          <a:p>
            <a:endParaRPr lang="en-IN"/>
          </a:p>
        </p:txBody>
      </p:sp>
      <p:sp>
        <p:nvSpPr>
          <p:cNvPr id="16" name="Shape 14"/>
          <p:cNvSpPr/>
          <p:nvPr/>
        </p:nvSpPr>
        <p:spPr>
          <a:xfrm>
            <a:off x="6464808" y="3154680"/>
            <a:ext cx="365760" cy="365760"/>
          </a:xfrm>
          <a:prstGeom prst="ellipse">
            <a:avLst/>
          </a:prstGeom>
          <a:solidFill>
            <a:srgbClr val="FFFFFF"/>
          </a:solidFill>
          <a:ln w="19050">
            <a:solidFill>
              <a:srgbClr val="1C7293"/>
            </a:solidFill>
            <a:prstDash val="solid"/>
          </a:ln>
        </p:spPr>
        <p:txBody>
          <a:bodyPr/>
          <a:lstStyle/>
          <a:p>
            <a:endParaRPr lang="en-IN"/>
          </a:p>
        </p:txBody>
      </p:sp>
      <p:sp>
        <p:nvSpPr>
          <p:cNvPr id="17" name="Text 15"/>
          <p:cNvSpPr/>
          <p:nvPr/>
        </p:nvSpPr>
        <p:spPr>
          <a:xfrm>
            <a:off x="6464808" y="3154680"/>
            <a:ext cx="365760" cy="365760"/>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6976872" y="3090672"/>
            <a:ext cx="4434840" cy="960120"/>
          </a:xfrm>
          <a:prstGeom prst="rect">
            <a:avLst/>
          </a:prstGeom>
          <a:noFill/>
          <a:ln/>
        </p:spPr>
        <p:txBody>
          <a:bodyPr wrap="square" lIns="0" tIns="0" rIns="0" bIns="0" rtlCol="0" anchor="ctr"/>
          <a:lstStyle/>
          <a:p>
            <a:pPr marL="0" indent="0">
              <a:lnSpc>
                <a:spcPct val="115000"/>
              </a:lnSpc>
              <a:buNone/>
            </a:pPr>
            <a:r>
              <a:rPr lang="en-US" sz="1350" dirty="0">
                <a:solidFill>
                  <a:srgbClr val="212121"/>
                </a:solidFill>
                <a:latin typeface="Calibri" pitchFamily="34" charset="0"/>
                <a:ea typeface="Calibri" pitchFamily="34" charset="-122"/>
                <a:cs typeface="Calibri" pitchFamily="34" charset="-120"/>
              </a:rPr>
              <a:t>Time-consuming to search documentation for the correct command</a:t>
            </a:r>
            <a:endParaRPr lang="en-US" sz="1350" dirty="0"/>
          </a:p>
        </p:txBody>
      </p:sp>
      <p:sp>
        <p:nvSpPr>
          <p:cNvPr id="19" name="Shape 17"/>
          <p:cNvSpPr/>
          <p:nvPr/>
        </p:nvSpPr>
        <p:spPr>
          <a:xfrm>
            <a:off x="548640" y="4389120"/>
            <a:ext cx="5349240" cy="1188720"/>
          </a:xfrm>
          <a:prstGeom prst="roundRect">
            <a:avLst>
              <a:gd name="adj" fmla="val 6154"/>
            </a:avLst>
          </a:prstGeom>
          <a:solidFill>
            <a:srgbClr val="EAF3F5"/>
          </a:solidFill>
          <a:ln/>
        </p:spPr>
        <p:txBody>
          <a:bodyPr/>
          <a:lstStyle/>
          <a:p>
            <a:endParaRPr lang="en-IN"/>
          </a:p>
        </p:txBody>
      </p:sp>
      <p:sp>
        <p:nvSpPr>
          <p:cNvPr id="20" name="Shape 18"/>
          <p:cNvSpPr/>
          <p:nvPr/>
        </p:nvSpPr>
        <p:spPr>
          <a:xfrm>
            <a:off x="749808" y="4572000"/>
            <a:ext cx="365760" cy="365760"/>
          </a:xfrm>
          <a:prstGeom prst="ellipse">
            <a:avLst/>
          </a:prstGeom>
          <a:solidFill>
            <a:srgbClr val="FFFFFF"/>
          </a:solidFill>
          <a:ln w="19050">
            <a:solidFill>
              <a:srgbClr val="1C7293"/>
            </a:solidFill>
            <a:prstDash val="solid"/>
          </a:ln>
        </p:spPr>
        <p:txBody>
          <a:bodyPr/>
          <a:lstStyle/>
          <a:p>
            <a:endParaRPr lang="en-IN"/>
          </a:p>
        </p:txBody>
      </p:sp>
      <p:sp>
        <p:nvSpPr>
          <p:cNvPr id="21" name="Text 19"/>
          <p:cNvSpPr/>
          <p:nvPr/>
        </p:nvSpPr>
        <p:spPr>
          <a:xfrm>
            <a:off x="749808" y="4572000"/>
            <a:ext cx="365760" cy="365760"/>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1261872" y="4507992"/>
            <a:ext cx="4434840" cy="960120"/>
          </a:xfrm>
          <a:prstGeom prst="rect">
            <a:avLst/>
          </a:prstGeom>
          <a:noFill/>
          <a:ln/>
        </p:spPr>
        <p:txBody>
          <a:bodyPr wrap="square" lIns="0" tIns="0" rIns="0" bIns="0" rtlCol="0" anchor="ctr"/>
          <a:lstStyle/>
          <a:p>
            <a:pPr marL="0" indent="0">
              <a:lnSpc>
                <a:spcPct val="115000"/>
              </a:lnSpc>
              <a:buNone/>
            </a:pPr>
            <a:r>
              <a:rPr lang="en-US" sz="1350" dirty="0">
                <a:solidFill>
                  <a:srgbClr val="212121"/>
                </a:solidFill>
                <a:latin typeface="Calibri" pitchFamily="34" charset="0"/>
                <a:ea typeface="Calibri" pitchFamily="34" charset="-122"/>
                <a:cs typeface="Calibri" pitchFamily="34" charset="-120"/>
              </a:rPr>
              <a:t>No context-awareness of what the user is actually trying to achieve</a:t>
            </a:r>
            <a:endParaRPr lang="en-US" sz="1350" dirty="0"/>
          </a:p>
        </p:txBody>
      </p:sp>
      <p:sp>
        <p:nvSpPr>
          <p:cNvPr id="23" name="Shape 21"/>
          <p:cNvSpPr/>
          <p:nvPr/>
        </p:nvSpPr>
        <p:spPr>
          <a:xfrm>
            <a:off x="6263640" y="4389120"/>
            <a:ext cx="5349240" cy="1188720"/>
          </a:xfrm>
          <a:prstGeom prst="roundRect">
            <a:avLst>
              <a:gd name="adj" fmla="val 6154"/>
            </a:avLst>
          </a:prstGeom>
          <a:solidFill>
            <a:srgbClr val="EAF3F5"/>
          </a:solidFill>
          <a:ln/>
        </p:spPr>
        <p:txBody>
          <a:bodyPr/>
          <a:lstStyle/>
          <a:p>
            <a:endParaRPr lang="en-IN"/>
          </a:p>
        </p:txBody>
      </p:sp>
      <p:sp>
        <p:nvSpPr>
          <p:cNvPr id="24" name="Shape 22"/>
          <p:cNvSpPr/>
          <p:nvPr/>
        </p:nvSpPr>
        <p:spPr>
          <a:xfrm>
            <a:off x="6464808" y="4572000"/>
            <a:ext cx="365760" cy="365760"/>
          </a:xfrm>
          <a:prstGeom prst="ellipse">
            <a:avLst/>
          </a:prstGeom>
          <a:solidFill>
            <a:srgbClr val="FFFFFF"/>
          </a:solidFill>
          <a:ln w="19050">
            <a:solidFill>
              <a:srgbClr val="1C7293"/>
            </a:solidFill>
            <a:prstDash val="solid"/>
          </a:ln>
        </p:spPr>
        <p:txBody>
          <a:bodyPr/>
          <a:lstStyle/>
          <a:p>
            <a:endParaRPr lang="en-IN"/>
          </a:p>
        </p:txBody>
      </p:sp>
      <p:sp>
        <p:nvSpPr>
          <p:cNvPr id="25" name="Text 23"/>
          <p:cNvSpPr/>
          <p:nvPr/>
        </p:nvSpPr>
        <p:spPr>
          <a:xfrm>
            <a:off x="6464808" y="4572000"/>
            <a:ext cx="365760" cy="365760"/>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
        <p:nvSpPr>
          <p:cNvPr id="26" name="Text 24"/>
          <p:cNvSpPr/>
          <p:nvPr/>
        </p:nvSpPr>
        <p:spPr>
          <a:xfrm>
            <a:off x="6976872" y="4507992"/>
            <a:ext cx="4434840" cy="960120"/>
          </a:xfrm>
          <a:prstGeom prst="rect">
            <a:avLst/>
          </a:prstGeom>
          <a:noFill/>
          <a:ln/>
        </p:spPr>
        <p:txBody>
          <a:bodyPr wrap="square" lIns="0" tIns="0" rIns="0" bIns="0" rtlCol="0" anchor="ctr"/>
          <a:lstStyle/>
          <a:p>
            <a:pPr marL="0" indent="0">
              <a:lnSpc>
                <a:spcPct val="115000"/>
              </a:lnSpc>
              <a:buNone/>
            </a:pPr>
            <a:r>
              <a:rPr lang="en-US" sz="1350" dirty="0">
                <a:solidFill>
                  <a:srgbClr val="212121"/>
                </a:solidFill>
                <a:latin typeface="Calibri" pitchFamily="34" charset="0"/>
                <a:ea typeface="Calibri" pitchFamily="34" charset="-122"/>
                <a:cs typeface="Calibri" pitchFamily="34" charset="-120"/>
              </a:rPr>
              <a:t>AI chat tools are disconnected from the shell — commands must be copy-pasted</a:t>
            </a:r>
            <a:endParaRPr lang="en-US" sz="1350" dirty="0"/>
          </a:p>
        </p:txBody>
      </p:sp>
      <p:sp>
        <p:nvSpPr>
          <p:cNvPr id="27" name="Text 25"/>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5A5A5A"/>
                </a:solidFill>
                <a:latin typeface="Calibri" pitchFamily="34" charset="0"/>
                <a:ea typeface="Calibri" pitchFamily="34" charset="-122"/>
                <a:cs typeface="Calibri" pitchFamily="34" charset="-120"/>
              </a:rPr>
              <a:t>IntelliShell – AI-Based Smart Linux Command Shell</a:t>
            </a:r>
            <a:endParaRPr lang="en-US" sz="900" dirty="0"/>
          </a:p>
        </p:txBody>
      </p:sp>
      <p:sp>
        <p:nvSpPr>
          <p:cNvPr id="28" name="Text 26"/>
          <p:cNvSpPr/>
          <p:nvPr/>
        </p:nvSpPr>
        <p:spPr>
          <a:xfrm>
            <a:off x="11612880" y="6510528"/>
            <a:ext cx="36576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lgn="l">
              <a:buNone/>
            </a:pPr>
            <a:r>
              <a:rPr lang="en-US" sz="3200" b="1" dirty="0">
                <a:solidFill>
                  <a:srgbClr val="0B3D46"/>
                </a:solidFill>
                <a:latin typeface="Cambria" pitchFamily="34" charset="0"/>
                <a:ea typeface="Cambria" pitchFamily="34" charset="-122"/>
                <a:cs typeface="Cambria" pitchFamily="34" charset="-120"/>
              </a:rPr>
              <a:t>Proposed Solution</a:t>
            </a:r>
            <a:endParaRPr lang="en-US" sz="3200" dirty="0"/>
          </a:p>
        </p:txBody>
      </p:sp>
      <p:sp>
        <p:nvSpPr>
          <p:cNvPr id="3" name="Shape 1"/>
          <p:cNvSpPr/>
          <p:nvPr/>
        </p:nvSpPr>
        <p:spPr>
          <a:xfrm>
            <a:off x="10607040" y="5394960"/>
            <a:ext cx="2103120" cy="2103120"/>
          </a:xfrm>
          <a:prstGeom prst="ellipse">
            <a:avLst/>
          </a:prstGeom>
          <a:solidFill>
            <a:srgbClr val="EAF3F5"/>
          </a:solidFill>
          <a:ln/>
        </p:spPr>
        <p:txBody>
          <a:bodyPr/>
          <a:lstStyle/>
          <a:p>
            <a:endParaRPr lang="en-IN"/>
          </a:p>
        </p:txBody>
      </p:sp>
      <p:sp>
        <p:nvSpPr>
          <p:cNvPr id="4" name="Text 2"/>
          <p:cNvSpPr/>
          <p:nvPr/>
        </p:nvSpPr>
        <p:spPr>
          <a:xfrm>
            <a:off x="548640" y="1417320"/>
            <a:ext cx="11064240" cy="1371600"/>
          </a:xfrm>
          <a:prstGeom prst="rect">
            <a:avLst/>
          </a:prstGeom>
          <a:noFill/>
          <a:ln/>
        </p:spPr>
        <p:txBody>
          <a:bodyPr wrap="square" lIns="0" tIns="0" rIns="0" bIns="0" rtlCol="0" anchor="ctr"/>
          <a:lstStyle/>
          <a:p>
            <a:pPr marL="0" indent="0" algn="l">
              <a:lnSpc>
                <a:spcPct val="125000"/>
              </a:lnSpc>
              <a:buNone/>
            </a:pPr>
            <a:r>
              <a:rPr lang="en-US" sz="1600" dirty="0">
                <a:solidFill>
                  <a:srgbClr val="212121"/>
                </a:solidFill>
                <a:latin typeface="Calibri" pitchFamily="34" charset="0"/>
                <a:ea typeface="Calibri" pitchFamily="34" charset="-122"/>
                <a:cs typeface="Calibri" pitchFamily="34" charset="-120"/>
              </a:rPr>
              <a:t>IntelliShell solves this by embedding an AI language model directly inside the Linux terminal. Users type what they want to do in plain English, and the system converts it into an accurate, executable shell command, with every risky action checked before it runs.</a:t>
            </a:r>
            <a:endParaRPr lang="en-US" sz="1600" dirty="0"/>
          </a:p>
        </p:txBody>
      </p:sp>
      <p:sp>
        <p:nvSpPr>
          <p:cNvPr id="5" name="Shape 3"/>
          <p:cNvSpPr/>
          <p:nvPr/>
        </p:nvSpPr>
        <p:spPr>
          <a:xfrm>
            <a:off x="548640" y="3127248"/>
            <a:ext cx="109728" cy="109728"/>
          </a:xfrm>
          <a:prstGeom prst="ellipse">
            <a:avLst/>
          </a:prstGeom>
          <a:solidFill>
            <a:srgbClr val="1C7293"/>
          </a:solidFill>
          <a:ln/>
        </p:spPr>
        <p:txBody>
          <a:bodyPr/>
          <a:lstStyle/>
          <a:p>
            <a:endParaRPr lang="en-IN"/>
          </a:p>
        </p:txBody>
      </p:sp>
      <p:sp>
        <p:nvSpPr>
          <p:cNvPr id="6" name="Text 4"/>
          <p:cNvSpPr/>
          <p:nvPr/>
        </p:nvSpPr>
        <p:spPr>
          <a:xfrm>
            <a:off x="868680" y="2980944"/>
            <a:ext cx="10424160" cy="457200"/>
          </a:xfrm>
          <a:prstGeom prst="rect">
            <a:avLst/>
          </a:prstGeom>
          <a:noFill/>
          <a:ln/>
        </p:spPr>
        <p:txBody>
          <a:bodyPr wrap="square" lIns="0" tIns="0" rIns="0" bIns="0" rtlCol="0" anchor="ctr"/>
          <a:lstStyle/>
          <a:p>
            <a:pPr marL="0" indent="0">
              <a:buNone/>
            </a:pPr>
            <a:r>
              <a:rPr lang="en-US" sz="1500" dirty="0">
                <a:solidFill>
                  <a:srgbClr val="212121"/>
                </a:solidFill>
                <a:latin typeface="Calibri" pitchFamily="34" charset="0"/>
                <a:ea typeface="Calibri" pitchFamily="34" charset="-122"/>
                <a:cs typeface="Calibri" pitchFamily="34" charset="-120"/>
              </a:rPr>
              <a:t>Converts natural-language requests into correct shell commands in real time</a:t>
            </a:r>
            <a:endParaRPr lang="en-US" sz="1500" dirty="0"/>
          </a:p>
        </p:txBody>
      </p:sp>
      <p:sp>
        <p:nvSpPr>
          <p:cNvPr id="7" name="Shape 5"/>
          <p:cNvSpPr/>
          <p:nvPr/>
        </p:nvSpPr>
        <p:spPr>
          <a:xfrm>
            <a:off x="548640" y="3694176"/>
            <a:ext cx="109728" cy="109728"/>
          </a:xfrm>
          <a:prstGeom prst="ellipse">
            <a:avLst/>
          </a:prstGeom>
          <a:solidFill>
            <a:srgbClr val="1C7293"/>
          </a:solidFill>
          <a:ln/>
        </p:spPr>
        <p:txBody>
          <a:bodyPr/>
          <a:lstStyle/>
          <a:p>
            <a:endParaRPr lang="en-IN"/>
          </a:p>
        </p:txBody>
      </p:sp>
      <p:sp>
        <p:nvSpPr>
          <p:cNvPr id="8" name="Text 6"/>
          <p:cNvSpPr/>
          <p:nvPr/>
        </p:nvSpPr>
        <p:spPr>
          <a:xfrm>
            <a:off x="868680" y="3547872"/>
            <a:ext cx="10424160" cy="457200"/>
          </a:xfrm>
          <a:prstGeom prst="rect">
            <a:avLst/>
          </a:prstGeom>
          <a:noFill/>
          <a:ln/>
        </p:spPr>
        <p:txBody>
          <a:bodyPr wrap="square" lIns="0" tIns="0" rIns="0" bIns="0" rtlCol="0" anchor="ctr"/>
          <a:lstStyle/>
          <a:p>
            <a:pPr marL="0" indent="0">
              <a:buNone/>
            </a:pPr>
            <a:r>
              <a:rPr lang="en-US" sz="1500" dirty="0">
                <a:solidFill>
                  <a:srgbClr val="212121"/>
                </a:solidFill>
                <a:latin typeface="Calibri" pitchFamily="34" charset="0"/>
                <a:ea typeface="Calibri" pitchFamily="34" charset="-122"/>
                <a:cs typeface="Calibri" pitchFamily="34" charset="-120"/>
              </a:rPr>
              <a:t>Explains what a command does before it executes, so users understand the impact</a:t>
            </a:r>
            <a:endParaRPr lang="en-US" sz="1500" dirty="0"/>
          </a:p>
        </p:txBody>
      </p:sp>
      <p:sp>
        <p:nvSpPr>
          <p:cNvPr id="9" name="Shape 7"/>
          <p:cNvSpPr/>
          <p:nvPr/>
        </p:nvSpPr>
        <p:spPr>
          <a:xfrm>
            <a:off x="548640" y="4261104"/>
            <a:ext cx="109728" cy="109728"/>
          </a:xfrm>
          <a:prstGeom prst="ellipse">
            <a:avLst/>
          </a:prstGeom>
          <a:solidFill>
            <a:srgbClr val="1C7293"/>
          </a:solidFill>
          <a:ln/>
        </p:spPr>
        <p:txBody>
          <a:bodyPr/>
          <a:lstStyle/>
          <a:p>
            <a:endParaRPr lang="en-IN"/>
          </a:p>
        </p:txBody>
      </p:sp>
      <p:sp>
        <p:nvSpPr>
          <p:cNvPr id="10" name="Text 8"/>
          <p:cNvSpPr/>
          <p:nvPr/>
        </p:nvSpPr>
        <p:spPr>
          <a:xfrm>
            <a:off x="868680" y="4114800"/>
            <a:ext cx="10424160" cy="457200"/>
          </a:xfrm>
          <a:prstGeom prst="rect">
            <a:avLst/>
          </a:prstGeom>
          <a:noFill/>
          <a:ln/>
        </p:spPr>
        <p:txBody>
          <a:bodyPr wrap="square" lIns="0" tIns="0" rIns="0" bIns="0" rtlCol="0" anchor="ctr"/>
          <a:lstStyle/>
          <a:p>
            <a:pPr marL="0" indent="0">
              <a:buNone/>
            </a:pPr>
            <a:r>
              <a:rPr lang="en-US" sz="1500" dirty="0">
                <a:solidFill>
                  <a:srgbClr val="212121"/>
                </a:solidFill>
                <a:latin typeface="Calibri" pitchFamily="34" charset="0"/>
                <a:ea typeface="Calibri" pitchFamily="34" charset="-122"/>
                <a:cs typeface="Calibri" pitchFamily="34" charset="-120"/>
              </a:rPr>
              <a:t>Flags risky or destructive commands and asks for confirmation before running them</a:t>
            </a:r>
            <a:endParaRPr lang="en-US" sz="1500" dirty="0"/>
          </a:p>
        </p:txBody>
      </p:sp>
      <p:sp>
        <p:nvSpPr>
          <p:cNvPr id="11" name="Shape 9"/>
          <p:cNvSpPr/>
          <p:nvPr/>
        </p:nvSpPr>
        <p:spPr>
          <a:xfrm>
            <a:off x="548640" y="4828032"/>
            <a:ext cx="109728" cy="109728"/>
          </a:xfrm>
          <a:prstGeom prst="ellipse">
            <a:avLst/>
          </a:prstGeom>
          <a:solidFill>
            <a:srgbClr val="1C7293"/>
          </a:solidFill>
          <a:ln/>
        </p:spPr>
        <p:txBody>
          <a:bodyPr/>
          <a:lstStyle/>
          <a:p>
            <a:endParaRPr lang="en-IN"/>
          </a:p>
        </p:txBody>
      </p:sp>
      <p:sp>
        <p:nvSpPr>
          <p:cNvPr id="12" name="Text 10"/>
          <p:cNvSpPr/>
          <p:nvPr/>
        </p:nvSpPr>
        <p:spPr>
          <a:xfrm>
            <a:off x="868680" y="4681728"/>
            <a:ext cx="10424160" cy="457200"/>
          </a:xfrm>
          <a:prstGeom prst="rect">
            <a:avLst/>
          </a:prstGeom>
          <a:noFill/>
          <a:ln/>
        </p:spPr>
        <p:txBody>
          <a:bodyPr wrap="square" lIns="0" tIns="0" rIns="0" bIns="0" rtlCol="0" anchor="ctr"/>
          <a:lstStyle/>
          <a:p>
            <a:pPr marL="0" indent="0">
              <a:buNone/>
            </a:pPr>
            <a:r>
              <a:rPr lang="en-US" sz="1500" dirty="0">
                <a:solidFill>
                  <a:srgbClr val="212121"/>
                </a:solidFill>
                <a:latin typeface="Calibri" pitchFamily="34" charset="0"/>
                <a:ea typeface="Calibri" pitchFamily="34" charset="-122"/>
                <a:cs typeface="Calibri" pitchFamily="34" charset="-120"/>
              </a:rPr>
              <a:t>Learns from command history to speed up future suggestions</a:t>
            </a:r>
            <a:endParaRPr lang="en-US" sz="1500" dirty="0"/>
          </a:p>
        </p:txBody>
      </p:sp>
      <p:sp>
        <p:nvSpPr>
          <p:cNvPr id="13" name="Text 11"/>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5A5A5A"/>
                </a:solidFill>
                <a:latin typeface="Calibri" pitchFamily="34" charset="0"/>
                <a:ea typeface="Calibri" pitchFamily="34" charset="-122"/>
                <a:cs typeface="Calibri" pitchFamily="34" charset="-120"/>
              </a:rPr>
              <a:t>IntelliShell – AI-Based Smart Linux Command Shell</a:t>
            </a:r>
            <a:endParaRPr lang="en-US" sz="900" dirty="0"/>
          </a:p>
        </p:txBody>
      </p:sp>
      <p:sp>
        <p:nvSpPr>
          <p:cNvPr id="14" name="Text 12"/>
          <p:cNvSpPr/>
          <p:nvPr/>
        </p:nvSpPr>
        <p:spPr>
          <a:xfrm>
            <a:off x="11612880" y="6510528"/>
            <a:ext cx="36576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lgn="l">
              <a:buNone/>
            </a:pPr>
            <a:r>
              <a:rPr lang="en-US" sz="3200" b="1" dirty="0">
                <a:solidFill>
                  <a:srgbClr val="0B3D46"/>
                </a:solidFill>
                <a:latin typeface="Cambria" pitchFamily="34" charset="0"/>
                <a:ea typeface="Cambria" pitchFamily="34" charset="-122"/>
                <a:cs typeface="Cambria" pitchFamily="34" charset="-120"/>
              </a:rPr>
              <a:t>Proposed System</a:t>
            </a:r>
            <a:endParaRPr lang="en-US" sz="3200" dirty="0"/>
          </a:p>
        </p:txBody>
      </p:sp>
      <p:sp>
        <p:nvSpPr>
          <p:cNvPr id="3" name="Text 1"/>
          <p:cNvSpPr/>
          <p:nvPr/>
        </p:nvSpPr>
        <p:spPr>
          <a:xfrm>
            <a:off x="548640" y="1371600"/>
            <a:ext cx="11064240" cy="731520"/>
          </a:xfrm>
          <a:prstGeom prst="rect">
            <a:avLst/>
          </a:prstGeom>
          <a:noFill/>
          <a:ln/>
        </p:spPr>
        <p:txBody>
          <a:bodyPr wrap="square" lIns="0" tIns="0" rIns="0" bIns="0" rtlCol="0" anchor="ctr"/>
          <a:lstStyle/>
          <a:p>
            <a:pPr marL="0" indent="0">
              <a:lnSpc>
                <a:spcPct val="120000"/>
              </a:lnSpc>
              <a:buNone/>
            </a:pPr>
            <a:r>
              <a:rPr lang="en-US" sz="1550" dirty="0">
                <a:solidFill>
                  <a:srgbClr val="212121"/>
                </a:solidFill>
                <a:latin typeface="Calibri" pitchFamily="34" charset="0"/>
                <a:ea typeface="Calibri" pitchFamily="34" charset="-122"/>
                <a:cs typeface="Calibri" pitchFamily="34" charset="-120"/>
              </a:rPr>
              <a:t>IntelliShell integrates an AI language model directly into the Linux command-line environment, converting natural-language requests into accurate, executable shell commands in real time.</a:t>
            </a:r>
            <a:endParaRPr lang="en-US" sz="1550" dirty="0"/>
          </a:p>
        </p:txBody>
      </p:sp>
      <p:sp>
        <p:nvSpPr>
          <p:cNvPr id="4" name="Shape 2"/>
          <p:cNvSpPr/>
          <p:nvPr/>
        </p:nvSpPr>
        <p:spPr>
          <a:xfrm>
            <a:off x="548640" y="2331720"/>
            <a:ext cx="3520440" cy="1508760"/>
          </a:xfrm>
          <a:prstGeom prst="roundRect">
            <a:avLst>
              <a:gd name="adj" fmla="val 6061"/>
            </a:avLst>
          </a:prstGeom>
          <a:solidFill>
            <a:srgbClr val="FFFFFF"/>
          </a:solidFill>
          <a:ln w="12700">
            <a:solidFill>
              <a:srgbClr val="E0E0E0"/>
            </a:solidFill>
            <a:prstDash val="solid"/>
          </a:ln>
          <a:effectLst>
            <a:outerShdw blurRad="76200" dist="25400" dir="5400000" algn="bl" rotWithShape="0">
              <a:srgbClr val="AAAAAA">
                <a:alpha val="25000"/>
              </a:srgbClr>
            </a:outerShdw>
          </a:effectLst>
        </p:spPr>
        <p:txBody>
          <a:bodyPr/>
          <a:lstStyle/>
          <a:p>
            <a:endParaRPr lang="en-IN"/>
          </a:p>
        </p:txBody>
      </p:sp>
      <p:sp>
        <p:nvSpPr>
          <p:cNvPr id="5" name="Shape 3"/>
          <p:cNvSpPr/>
          <p:nvPr/>
        </p:nvSpPr>
        <p:spPr>
          <a:xfrm>
            <a:off x="749808" y="2514600"/>
            <a:ext cx="457200" cy="457200"/>
          </a:xfrm>
          <a:prstGeom prst="roundRect">
            <a:avLst>
              <a:gd name="adj" fmla="val 20000"/>
            </a:avLst>
          </a:prstGeom>
          <a:solidFill>
            <a:srgbClr val="1C7293"/>
          </a:solidFill>
          <a:ln/>
        </p:spPr>
        <p:txBody>
          <a:bodyPr/>
          <a:lstStyle/>
          <a:p>
            <a:endParaRPr lang="en-IN"/>
          </a:p>
        </p:txBody>
      </p:sp>
      <p:sp>
        <p:nvSpPr>
          <p:cNvPr id="6" name="Text 4"/>
          <p:cNvSpPr/>
          <p:nvPr/>
        </p:nvSpPr>
        <p:spPr>
          <a:xfrm>
            <a:off x="749808" y="2514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749808" y="3081528"/>
            <a:ext cx="3118104" cy="320040"/>
          </a:xfrm>
          <a:prstGeom prst="rect">
            <a:avLst/>
          </a:prstGeom>
          <a:noFill/>
          <a:ln/>
        </p:spPr>
        <p:txBody>
          <a:bodyPr wrap="square" lIns="0" tIns="0" rIns="0" bIns="0" rtlCol="0" anchor="ctr"/>
          <a:lstStyle/>
          <a:p>
            <a:pPr marL="0" indent="0">
              <a:buNone/>
            </a:pPr>
            <a:r>
              <a:rPr lang="en-US" sz="1300" b="1" dirty="0">
                <a:solidFill>
                  <a:srgbClr val="212121"/>
                </a:solidFill>
                <a:latin typeface="Calibri" pitchFamily="34" charset="0"/>
                <a:ea typeface="Calibri" pitchFamily="34" charset="-122"/>
                <a:cs typeface="Calibri" pitchFamily="34" charset="-120"/>
              </a:rPr>
              <a:t>Natural Language Input</a:t>
            </a:r>
            <a:endParaRPr lang="en-US" sz="1300" dirty="0"/>
          </a:p>
        </p:txBody>
      </p:sp>
      <p:sp>
        <p:nvSpPr>
          <p:cNvPr id="8" name="Text 6"/>
          <p:cNvSpPr/>
          <p:nvPr/>
        </p:nvSpPr>
        <p:spPr>
          <a:xfrm>
            <a:off x="749808" y="3374136"/>
            <a:ext cx="3118104" cy="438912"/>
          </a:xfrm>
          <a:prstGeom prst="rect">
            <a:avLst/>
          </a:prstGeom>
          <a:noFill/>
          <a:ln/>
        </p:spPr>
        <p:txBody>
          <a:bodyPr wrap="square" lIns="0" tIns="0" rIns="0" bIns="0" rtlCol="0" anchor="ctr"/>
          <a:lstStyle/>
          <a:p>
            <a:pPr marL="0" indent="0">
              <a:lnSpc>
                <a:spcPct val="110000"/>
              </a:lnSpc>
              <a:buNone/>
            </a:pPr>
            <a:r>
              <a:rPr lang="en-US" sz="1050" dirty="0">
                <a:solidFill>
                  <a:srgbClr val="5A5A5A"/>
                </a:solidFill>
                <a:latin typeface="Calibri" pitchFamily="34" charset="0"/>
                <a:ea typeface="Calibri" pitchFamily="34" charset="-122"/>
                <a:cs typeface="Calibri" pitchFamily="34" charset="-120"/>
              </a:rPr>
              <a:t>User types a plain-English request instead of exact command syntax</a:t>
            </a:r>
            <a:endParaRPr lang="en-US" sz="1050" dirty="0"/>
          </a:p>
        </p:txBody>
      </p:sp>
      <p:sp>
        <p:nvSpPr>
          <p:cNvPr id="9" name="Shape 7"/>
          <p:cNvSpPr/>
          <p:nvPr/>
        </p:nvSpPr>
        <p:spPr>
          <a:xfrm>
            <a:off x="4325112" y="2331720"/>
            <a:ext cx="3520440" cy="1508760"/>
          </a:xfrm>
          <a:prstGeom prst="roundRect">
            <a:avLst>
              <a:gd name="adj" fmla="val 6061"/>
            </a:avLst>
          </a:prstGeom>
          <a:solidFill>
            <a:srgbClr val="FFFFFF"/>
          </a:solidFill>
          <a:ln w="12700">
            <a:solidFill>
              <a:srgbClr val="E0E0E0"/>
            </a:solidFill>
            <a:prstDash val="solid"/>
          </a:ln>
          <a:effectLst>
            <a:outerShdw blurRad="76200" dist="25400" dir="5400000" algn="bl" rotWithShape="0">
              <a:srgbClr val="AAAAAA">
                <a:alpha val="25000"/>
              </a:srgbClr>
            </a:outerShdw>
          </a:effectLst>
        </p:spPr>
        <p:txBody>
          <a:bodyPr/>
          <a:lstStyle/>
          <a:p>
            <a:endParaRPr lang="en-IN"/>
          </a:p>
        </p:txBody>
      </p:sp>
      <p:sp>
        <p:nvSpPr>
          <p:cNvPr id="10" name="Shape 8"/>
          <p:cNvSpPr/>
          <p:nvPr/>
        </p:nvSpPr>
        <p:spPr>
          <a:xfrm>
            <a:off x="4526280" y="2514600"/>
            <a:ext cx="457200" cy="457200"/>
          </a:xfrm>
          <a:prstGeom prst="roundRect">
            <a:avLst>
              <a:gd name="adj" fmla="val 20000"/>
            </a:avLst>
          </a:prstGeom>
          <a:solidFill>
            <a:srgbClr val="1C7293"/>
          </a:solidFill>
          <a:ln/>
        </p:spPr>
        <p:txBody>
          <a:bodyPr/>
          <a:lstStyle/>
          <a:p>
            <a:endParaRPr lang="en-IN"/>
          </a:p>
        </p:txBody>
      </p:sp>
      <p:sp>
        <p:nvSpPr>
          <p:cNvPr id="11" name="Text 9"/>
          <p:cNvSpPr/>
          <p:nvPr/>
        </p:nvSpPr>
        <p:spPr>
          <a:xfrm>
            <a:off x="4526280" y="2514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526280" y="3081528"/>
            <a:ext cx="3118104" cy="320040"/>
          </a:xfrm>
          <a:prstGeom prst="rect">
            <a:avLst/>
          </a:prstGeom>
          <a:noFill/>
          <a:ln/>
        </p:spPr>
        <p:txBody>
          <a:bodyPr wrap="square" lIns="0" tIns="0" rIns="0" bIns="0" rtlCol="0" anchor="ctr"/>
          <a:lstStyle/>
          <a:p>
            <a:pPr marL="0" indent="0">
              <a:buNone/>
            </a:pPr>
            <a:r>
              <a:rPr lang="en-US" sz="1300" b="1" dirty="0">
                <a:solidFill>
                  <a:srgbClr val="212121"/>
                </a:solidFill>
                <a:latin typeface="Calibri" pitchFamily="34" charset="0"/>
                <a:ea typeface="Calibri" pitchFamily="34" charset="-122"/>
                <a:cs typeface="Calibri" pitchFamily="34" charset="-120"/>
              </a:rPr>
              <a:t>AI Command Translation</a:t>
            </a:r>
            <a:endParaRPr lang="en-US" sz="1300" dirty="0"/>
          </a:p>
        </p:txBody>
      </p:sp>
      <p:sp>
        <p:nvSpPr>
          <p:cNvPr id="13" name="Text 11"/>
          <p:cNvSpPr/>
          <p:nvPr/>
        </p:nvSpPr>
        <p:spPr>
          <a:xfrm>
            <a:off x="4526280" y="3374136"/>
            <a:ext cx="3118104" cy="438912"/>
          </a:xfrm>
          <a:prstGeom prst="rect">
            <a:avLst/>
          </a:prstGeom>
          <a:noFill/>
          <a:ln/>
        </p:spPr>
        <p:txBody>
          <a:bodyPr wrap="square" lIns="0" tIns="0" rIns="0" bIns="0" rtlCol="0" anchor="ctr"/>
          <a:lstStyle/>
          <a:p>
            <a:pPr marL="0" indent="0">
              <a:lnSpc>
                <a:spcPct val="110000"/>
              </a:lnSpc>
              <a:buNone/>
            </a:pPr>
            <a:r>
              <a:rPr lang="en-US" sz="1050" dirty="0">
                <a:solidFill>
                  <a:srgbClr val="5A5A5A"/>
                </a:solidFill>
                <a:latin typeface="Calibri" pitchFamily="34" charset="0"/>
                <a:ea typeface="Calibri" pitchFamily="34" charset="-122"/>
                <a:cs typeface="Calibri" pitchFamily="34" charset="-120"/>
              </a:rPr>
              <a:t>The request is parsed and mapped to the correct Linux command(s)</a:t>
            </a:r>
            <a:endParaRPr lang="en-US" sz="1050" dirty="0"/>
          </a:p>
        </p:txBody>
      </p:sp>
      <p:sp>
        <p:nvSpPr>
          <p:cNvPr id="14" name="Shape 12"/>
          <p:cNvSpPr/>
          <p:nvPr/>
        </p:nvSpPr>
        <p:spPr>
          <a:xfrm>
            <a:off x="8101584" y="2331720"/>
            <a:ext cx="3520440" cy="1508760"/>
          </a:xfrm>
          <a:prstGeom prst="roundRect">
            <a:avLst>
              <a:gd name="adj" fmla="val 6061"/>
            </a:avLst>
          </a:prstGeom>
          <a:solidFill>
            <a:srgbClr val="FFFFFF"/>
          </a:solidFill>
          <a:ln w="12700">
            <a:solidFill>
              <a:srgbClr val="E0E0E0"/>
            </a:solidFill>
            <a:prstDash val="solid"/>
          </a:ln>
          <a:effectLst>
            <a:outerShdw blurRad="76200" dist="25400" dir="5400000" algn="bl" rotWithShape="0">
              <a:srgbClr val="AAAAAA">
                <a:alpha val="25000"/>
              </a:srgbClr>
            </a:outerShdw>
          </a:effectLst>
        </p:spPr>
        <p:txBody>
          <a:bodyPr/>
          <a:lstStyle/>
          <a:p>
            <a:endParaRPr lang="en-IN"/>
          </a:p>
        </p:txBody>
      </p:sp>
      <p:sp>
        <p:nvSpPr>
          <p:cNvPr id="15" name="Shape 13"/>
          <p:cNvSpPr/>
          <p:nvPr/>
        </p:nvSpPr>
        <p:spPr>
          <a:xfrm>
            <a:off x="8302752" y="2514600"/>
            <a:ext cx="457200" cy="457200"/>
          </a:xfrm>
          <a:prstGeom prst="roundRect">
            <a:avLst>
              <a:gd name="adj" fmla="val 20000"/>
            </a:avLst>
          </a:prstGeom>
          <a:solidFill>
            <a:srgbClr val="1C7293"/>
          </a:solidFill>
          <a:ln/>
        </p:spPr>
        <p:txBody>
          <a:bodyPr/>
          <a:lstStyle/>
          <a:p>
            <a:endParaRPr lang="en-IN"/>
          </a:p>
        </p:txBody>
      </p:sp>
      <p:sp>
        <p:nvSpPr>
          <p:cNvPr id="16" name="Text 14"/>
          <p:cNvSpPr/>
          <p:nvPr/>
        </p:nvSpPr>
        <p:spPr>
          <a:xfrm>
            <a:off x="8302752" y="2514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302752" y="3081528"/>
            <a:ext cx="3118104" cy="320040"/>
          </a:xfrm>
          <a:prstGeom prst="rect">
            <a:avLst/>
          </a:prstGeom>
          <a:noFill/>
          <a:ln/>
        </p:spPr>
        <p:txBody>
          <a:bodyPr wrap="square" lIns="0" tIns="0" rIns="0" bIns="0" rtlCol="0" anchor="ctr"/>
          <a:lstStyle/>
          <a:p>
            <a:pPr marL="0" indent="0">
              <a:buNone/>
            </a:pPr>
            <a:r>
              <a:rPr lang="en-US" sz="1300" b="1" dirty="0">
                <a:solidFill>
                  <a:srgbClr val="212121"/>
                </a:solidFill>
                <a:latin typeface="Calibri" pitchFamily="34" charset="0"/>
                <a:ea typeface="Calibri" pitchFamily="34" charset="-122"/>
                <a:cs typeface="Calibri" pitchFamily="34" charset="-120"/>
              </a:rPr>
              <a:t>Safety Check Layer</a:t>
            </a:r>
            <a:endParaRPr lang="en-US" sz="1300" dirty="0"/>
          </a:p>
        </p:txBody>
      </p:sp>
      <p:sp>
        <p:nvSpPr>
          <p:cNvPr id="18" name="Text 16"/>
          <p:cNvSpPr/>
          <p:nvPr/>
        </p:nvSpPr>
        <p:spPr>
          <a:xfrm>
            <a:off x="8302752" y="3374136"/>
            <a:ext cx="3118104" cy="438912"/>
          </a:xfrm>
          <a:prstGeom prst="rect">
            <a:avLst/>
          </a:prstGeom>
          <a:noFill/>
          <a:ln/>
        </p:spPr>
        <p:txBody>
          <a:bodyPr wrap="square" lIns="0" tIns="0" rIns="0" bIns="0" rtlCol="0" anchor="ctr"/>
          <a:lstStyle/>
          <a:p>
            <a:pPr marL="0" indent="0">
              <a:lnSpc>
                <a:spcPct val="110000"/>
              </a:lnSpc>
              <a:buNone/>
            </a:pPr>
            <a:r>
              <a:rPr lang="en-US" sz="1050" dirty="0">
                <a:solidFill>
                  <a:srgbClr val="5A5A5A"/>
                </a:solidFill>
                <a:latin typeface="Calibri" pitchFamily="34" charset="0"/>
                <a:ea typeface="Calibri" pitchFamily="34" charset="-122"/>
                <a:cs typeface="Calibri" pitchFamily="34" charset="-120"/>
              </a:rPr>
              <a:t>Risky or destructive commands are flagged and confirmed before running</a:t>
            </a:r>
            <a:endParaRPr lang="en-US" sz="1050" dirty="0"/>
          </a:p>
        </p:txBody>
      </p:sp>
      <p:sp>
        <p:nvSpPr>
          <p:cNvPr id="19" name="Shape 17"/>
          <p:cNvSpPr/>
          <p:nvPr/>
        </p:nvSpPr>
        <p:spPr>
          <a:xfrm>
            <a:off x="548640" y="4023360"/>
            <a:ext cx="3520440" cy="1508760"/>
          </a:xfrm>
          <a:prstGeom prst="roundRect">
            <a:avLst>
              <a:gd name="adj" fmla="val 6061"/>
            </a:avLst>
          </a:prstGeom>
          <a:solidFill>
            <a:srgbClr val="FFFFFF"/>
          </a:solidFill>
          <a:ln w="12700">
            <a:solidFill>
              <a:srgbClr val="E0E0E0"/>
            </a:solidFill>
            <a:prstDash val="solid"/>
          </a:ln>
          <a:effectLst>
            <a:outerShdw blurRad="76200" dist="25400" dir="5400000" algn="bl" rotWithShape="0">
              <a:srgbClr val="AAAAAA">
                <a:alpha val="25000"/>
              </a:srgbClr>
            </a:outerShdw>
          </a:effectLst>
        </p:spPr>
        <p:txBody>
          <a:bodyPr/>
          <a:lstStyle/>
          <a:p>
            <a:endParaRPr lang="en-IN"/>
          </a:p>
        </p:txBody>
      </p:sp>
      <p:sp>
        <p:nvSpPr>
          <p:cNvPr id="20" name="Shape 18"/>
          <p:cNvSpPr/>
          <p:nvPr/>
        </p:nvSpPr>
        <p:spPr>
          <a:xfrm>
            <a:off x="749808" y="4206240"/>
            <a:ext cx="457200" cy="457200"/>
          </a:xfrm>
          <a:prstGeom prst="roundRect">
            <a:avLst>
              <a:gd name="adj" fmla="val 20000"/>
            </a:avLst>
          </a:prstGeom>
          <a:solidFill>
            <a:srgbClr val="1C7293"/>
          </a:solidFill>
          <a:ln/>
        </p:spPr>
        <p:txBody>
          <a:bodyPr/>
          <a:lstStyle/>
          <a:p>
            <a:endParaRPr lang="en-IN"/>
          </a:p>
        </p:txBody>
      </p:sp>
      <p:sp>
        <p:nvSpPr>
          <p:cNvPr id="21" name="Text 19"/>
          <p:cNvSpPr/>
          <p:nvPr/>
        </p:nvSpPr>
        <p:spPr>
          <a:xfrm>
            <a:off x="749808" y="42062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749808" y="4773168"/>
            <a:ext cx="3118104" cy="320040"/>
          </a:xfrm>
          <a:prstGeom prst="rect">
            <a:avLst/>
          </a:prstGeom>
          <a:noFill/>
          <a:ln/>
        </p:spPr>
        <p:txBody>
          <a:bodyPr wrap="square" lIns="0" tIns="0" rIns="0" bIns="0" rtlCol="0" anchor="ctr"/>
          <a:lstStyle/>
          <a:p>
            <a:pPr marL="0" indent="0">
              <a:buNone/>
            </a:pPr>
            <a:r>
              <a:rPr lang="en-US" sz="1300" b="1" dirty="0">
                <a:solidFill>
                  <a:srgbClr val="212121"/>
                </a:solidFill>
                <a:latin typeface="Calibri" pitchFamily="34" charset="0"/>
                <a:ea typeface="Calibri" pitchFamily="34" charset="-122"/>
                <a:cs typeface="Calibri" pitchFamily="34" charset="-120"/>
              </a:rPr>
              <a:t>Explanation Mode</a:t>
            </a:r>
            <a:endParaRPr lang="en-US" sz="1300" dirty="0"/>
          </a:p>
        </p:txBody>
      </p:sp>
      <p:sp>
        <p:nvSpPr>
          <p:cNvPr id="23" name="Text 21"/>
          <p:cNvSpPr/>
          <p:nvPr/>
        </p:nvSpPr>
        <p:spPr>
          <a:xfrm>
            <a:off x="749808" y="5065776"/>
            <a:ext cx="3118104" cy="438912"/>
          </a:xfrm>
          <a:prstGeom prst="rect">
            <a:avLst/>
          </a:prstGeom>
          <a:noFill/>
          <a:ln/>
        </p:spPr>
        <p:txBody>
          <a:bodyPr wrap="square" lIns="0" tIns="0" rIns="0" bIns="0" rtlCol="0" anchor="ctr"/>
          <a:lstStyle/>
          <a:p>
            <a:pPr marL="0" indent="0">
              <a:lnSpc>
                <a:spcPct val="110000"/>
              </a:lnSpc>
              <a:buNone/>
            </a:pPr>
            <a:r>
              <a:rPr lang="en-US" sz="1050" dirty="0">
                <a:solidFill>
                  <a:srgbClr val="5A5A5A"/>
                </a:solidFill>
                <a:latin typeface="Calibri" pitchFamily="34" charset="0"/>
                <a:ea typeface="Calibri" pitchFamily="34" charset="-122"/>
                <a:cs typeface="Calibri" pitchFamily="34" charset="-120"/>
              </a:rPr>
              <a:t>Shows what a suggested command does before the user executes it</a:t>
            </a:r>
            <a:endParaRPr lang="en-US" sz="1050" dirty="0"/>
          </a:p>
        </p:txBody>
      </p:sp>
      <p:sp>
        <p:nvSpPr>
          <p:cNvPr id="24" name="Shape 22"/>
          <p:cNvSpPr/>
          <p:nvPr/>
        </p:nvSpPr>
        <p:spPr>
          <a:xfrm>
            <a:off x="4325112" y="4023360"/>
            <a:ext cx="3520440" cy="1508760"/>
          </a:xfrm>
          <a:prstGeom prst="roundRect">
            <a:avLst>
              <a:gd name="adj" fmla="val 6061"/>
            </a:avLst>
          </a:prstGeom>
          <a:solidFill>
            <a:srgbClr val="FFFFFF"/>
          </a:solidFill>
          <a:ln w="12700">
            <a:solidFill>
              <a:srgbClr val="E0E0E0"/>
            </a:solidFill>
            <a:prstDash val="solid"/>
          </a:ln>
          <a:effectLst>
            <a:outerShdw blurRad="76200" dist="25400" dir="5400000" algn="bl" rotWithShape="0">
              <a:srgbClr val="AAAAAA">
                <a:alpha val="25000"/>
              </a:srgbClr>
            </a:outerShdw>
          </a:effectLst>
        </p:spPr>
        <p:txBody>
          <a:bodyPr/>
          <a:lstStyle/>
          <a:p>
            <a:endParaRPr lang="en-IN"/>
          </a:p>
        </p:txBody>
      </p:sp>
      <p:sp>
        <p:nvSpPr>
          <p:cNvPr id="25" name="Shape 23"/>
          <p:cNvSpPr/>
          <p:nvPr/>
        </p:nvSpPr>
        <p:spPr>
          <a:xfrm>
            <a:off x="4526280" y="4206240"/>
            <a:ext cx="457200" cy="457200"/>
          </a:xfrm>
          <a:prstGeom prst="roundRect">
            <a:avLst>
              <a:gd name="adj" fmla="val 20000"/>
            </a:avLst>
          </a:prstGeom>
          <a:solidFill>
            <a:srgbClr val="1C7293"/>
          </a:solidFill>
          <a:ln/>
        </p:spPr>
        <p:txBody>
          <a:bodyPr/>
          <a:lstStyle/>
          <a:p>
            <a:endParaRPr lang="en-IN"/>
          </a:p>
        </p:txBody>
      </p:sp>
      <p:sp>
        <p:nvSpPr>
          <p:cNvPr id="26" name="Text 24"/>
          <p:cNvSpPr/>
          <p:nvPr/>
        </p:nvSpPr>
        <p:spPr>
          <a:xfrm>
            <a:off x="4526280" y="42062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4526280" y="4773168"/>
            <a:ext cx="3118104" cy="320040"/>
          </a:xfrm>
          <a:prstGeom prst="rect">
            <a:avLst/>
          </a:prstGeom>
          <a:noFill/>
          <a:ln/>
        </p:spPr>
        <p:txBody>
          <a:bodyPr wrap="square" lIns="0" tIns="0" rIns="0" bIns="0" rtlCol="0" anchor="ctr"/>
          <a:lstStyle/>
          <a:p>
            <a:pPr marL="0" indent="0">
              <a:buNone/>
            </a:pPr>
            <a:r>
              <a:rPr lang="en-US" sz="1300" b="1" dirty="0">
                <a:solidFill>
                  <a:srgbClr val="212121"/>
                </a:solidFill>
                <a:latin typeface="Calibri" pitchFamily="34" charset="0"/>
                <a:ea typeface="Calibri" pitchFamily="34" charset="-122"/>
                <a:cs typeface="Calibri" pitchFamily="34" charset="-120"/>
              </a:rPr>
              <a:t>Command History Learning</a:t>
            </a:r>
            <a:endParaRPr lang="en-US" sz="1300" dirty="0"/>
          </a:p>
        </p:txBody>
      </p:sp>
      <p:sp>
        <p:nvSpPr>
          <p:cNvPr id="28" name="Text 26"/>
          <p:cNvSpPr/>
          <p:nvPr/>
        </p:nvSpPr>
        <p:spPr>
          <a:xfrm>
            <a:off x="4526280" y="5065776"/>
            <a:ext cx="3118104" cy="438912"/>
          </a:xfrm>
          <a:prstGeom prst="rect">
            <a:avLst/>
          </a:prstGeom>
          <a:noFill/>
          <a:ln/>
        </p:spPr>
        <p:txBody>
          <a:bodyPr wrap="square" lIns="0" tIns="0" rIns="0" bIns="0" rtlCol="0" anchor="ctr"/>
          <a:lstStyle/>
          <a:p>
            <a:pPr marL="0" indent="0">
              <a:lnSpc>
                <a:spcPct val="110000"/>
              </a:lnSpc>
              <a:buNone/>
            </a:pPr>
            <a:r>
              <a:rPr lang="en-US" sz="1050" dirty="0">
                <a:solidFill>
                  <a:srgbClr val="5A5A5A"/>
                </a:solidFill>
                <a:latin typeface="Calibri" pitchFamily="34" charset="0"/>
                <a:ea typeface="Calibri" pitchFamily="34" charset="-122"/>
                <a:cs typeface="Calibri" pitchFamily="34" charset="-120"/>
              </a:rPr>
              <a:t>Adapts to the user's frequent tasks for faster future suggestions</a:t>
            </a:r>
            <a:endParaRPr lang="en-US" sz="1050" dirty="0"/>
          </a:p>
        </p:txBody>
      </p:sp>
      <p:sp>
        <p:nvSpPr>
          <p:cNvPr id="29" name="Shape 27"/>
          <p:cNvSpPr/>
          <p:nvPr/>
        </p:nvSpPr>
        <p:spPr>
          <a:xfrm>
            <a:off x="8101584" y="4023360"/>
            <a:ext cx="3520440" cy="1508760"/>
          </a:xfrm>
          <a:prstGeom prst="roundRect">
            <a:avLst>
              <a:gd name="adj" fmla="val 6061"/>
            </a:avLst>
          </a:prstGeom>
          <a:solidFill>
            <a:srgbClr val="FFFFFF"/>
          </a:solidFill>
          <a:ln w="12700">
            <a:solidFill>
              <a:srgbClr val="E0E0E0"/>
            </a:solidFill>
            <a:prstDash val="solid"/>
          </a:ln>
          <a:effectLst>
            <a:outerShdw blurRad="76200" dist="25400" dir="5400000" algn="bl" rotWithShape="0">
              <a:srgbClr val="AAAAAA">
                <a:alpha val="25000"/>
              </a:srgbClr>
            </a:outerShdw>
          </a:effectLst>
        </p:spPr>
        <p:txBody>
          <a:bodyPr/>
          <a:lstStyle/>
          <a:p>
            <a:endParaRPr lang="en-IN"/>
          </a:p>
        </p:txBody>
      </p:sp>
      <p:sp>
        <p:nvSpPr>
          <p:cNvPr id="30" name="Shape 28"/>
          <p:cNvSpPr/>
          <p:nvPr/>
        </p:nvSpPr>
        <p:spPr>
          <a:xfrm>
            <a:off x="8302752" y="4206240"/>
            <a:ext cx="457200" cy="457200"/>
          </a:xfrm>
          <a:prstGeom prst="roundRect">
            <a:avLst>
              <a:gd name="adj" fmla="val 20000"/>
            </a:avLst>
          </a:prstGeom>
          <a:solidFill>
            <a:srgbClr val="1C7293"/>
          </a:solidFill>
          <a:ln/>
        </p:spPr>
        <p:txBody>
          <a:bodyPr/>
          <a:lstStyle/>
          <a:p>
            <a:endParaRPr lang="en-IN"/>
          </a:p>
        </p:txBody>
      </p:sp>
      <p:sp>
        <p:nvSpPr>
          <p:cNvPr id="31" name="Text 29"/>
          <p:cNvSpPr/>
          <p:nvPr/>
        </p:nvSpPr>
        <p:spPr>
          <a:xfrm>
            <a:off x="8302752" y="42062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Text 30"/>
          <p:cNvSpPr/>
          <p:nvPr/>
        </p:nvSpPr>
        <p:spPr>
          <a:xfrm>
            <a:off x="8302752" y="4773168"/>
            <a:ext cx="3118104" cy="320040"/>
          </a:xfrm>
          <a:prstGeom prst="rect">
            <a:avLst/>
          </a:prstGeom>
          <a:noFill/>
          <a:ln/>
        </p:spPr>
        <p:txBody>
          <a:bodyPr wrap="square" lIns="0" tIns="0" rIns="0" bIns="0" rtlCol="0" anchor="ctr"/>
          <a:lstStyle/>
          <a:p>
            <a:pPr marL="0" indent="0">
              <a:buNone/>
            </a:pPr>
            <a:r>
              <a:rPr lang="en-US" sz="1300" b="1" dirty="0">
                <a:solidFill>
                  <a:srgbClr val="212121"/>
                </a:solidFill>
                <a:latin typeface="Calibri" pitchFamily="34" charset="0"/>
                <a:ea typeface="Calibri" pitchFamily="34" charset="-122"/>
                <a:cs typeface="Calibri" pitchFamily="34" charset="-120"/>
              </a:rPr>
              <a:t>Seamless Shell Integration</a:t>
            </a:r>
            <a:endParaRPr lang="en-US" sz="1300" dirty="0"/>
          </a:p>
        </p:txBody>
      </p:sp>
      <p:sp>
        <p:nvSpPr>
          <p:cNvPr id="33" name="Text 31"/>
          <p:cNvSpPr/>
          <p:nvPr/>
        </p:nvSpPr>
        <p:spPr>
          <a:xfrm>
            <a:off x="8302752" y="5065776"/>
            <a:ext cx="3118104" cy="438912"/>
          </a:xfrm>
          <a:prstGeom prst="rect">
            <a:avLst/>
          </a:prstGeom>
          <a:noFill/>
          <a:ln/>
        </p:spPr>
        <p:txBody>
          <a:bodyPr wrap="square" lIns="0" tIns="0" rIns="0" bIns="0" rtlCol="0" anchor="ctr"/>
          <a:lstStyle/>
          <a:p>
            <a:pPr marL="0" indent="0">
              <a:lnSpc>
                <a:spcPct val="110000"/>
              </a:lnSpc>
              <a:buNone/>
            </a:pPr>
            <a:r>
              <a:rPr lang="en-US" sz="1050" dirty="0">
                <a:solidFill>
                  <a:srgbClr val="5A5A5A"/>
                </a:solidFill>
                <a:latin typeface="Calibri" pitchFamily="34" charset="0"/>
                <a:ea typeface="Calibri" pitchFamily="34" charset="-122"/>
                <a:cs typeface="Calibri" pitchFamily="34" charset="-120"/>
              </a:rPr>
              <a:t>Works within the existing terminal — no need to switch tools</a:t>
            </a:r>
            <a:endParaRPr lang="en-US" sz="1050" dirty="0"/>
          </a:p>
        </p:txBody>
      </p:sp>
      <p:sp>
        <p:nvSpPr>
          <p:cNvPr id="34" name="Text 32"/>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5A5A5A"/>
                </a:solidFill>
                <a:latin typeface="Calibri" pitchFamily="34" charset="0"/>
                <a:ea typeface="Calibri" pitchFamily="34" charset="-122"/>
                <a:cs typeface="Calibri" pitchFamily="34" charset="-120"/>
              </a:rPr>
              <a:t>IntelliShell – AI-Based Smart Linux Command Shell</a:t>
            </a:r>
            <a:endParaRPr lang="en-US" sz="900" dirty="0"/>
          </a:p>
        </p:txBody>
      </p:sp>
      <p:sp>
        <p:nvSpPr>
          <p:cNvPr id="35" name="Text 33"/>
          <p:cNvSpPr/>
          <p:nvPr/>
        </p:nvSpPr>
        <p:spPr>
          <a:xfrm>
            <a:off x="11612880" y="6510528"/>
            <a:ext cx="36576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lgn="l">
              <a:buNone/>
            </a:pPr>
            <a:r>
              <a:rPr lang="en-US" sz="3200" b="1" dirty="0">
                <a:solidFill>
                  <a:srgbClr val="0B3D46"/>
                </a:solidFill>
                <a:latin typeface="Cambria" pitchFamily="34" charset="0"/>
                <a:ea typeface="Cambria" pitchFamily="34" charset="-122"/>
                <a:cs typeface="Cambria" pitchFamily="34" charset="-120"/>
              </a:rPr>
              <a:t>Advantages</a:t>
            </a:r>
            <a:endParaRPr lang="en-US" sz="3200" dirty="0"/>
          </a:p>
        </p:txBody>
      </p:sp>
      <p:sp>
        <p:nvSpPr>
          <p:cNvPr id="3" name="Shape 1"/>
          <p:cNvSpPr/>
          <p:nvPr/>
        </p:nvSpPr>
        <p:spPr>
          <a:xfrm>
            <a:off x="548640" y="1554480"/>
            <a:ext cx="5349240" cy="1188720"/>
          </a:xfrm>
          <a:prstGeom prst="roundRect">
            <a:avLst>
              <a:gd name="adj" fmla="val 6154"/>
            </a:avLst>
          </a:prstGeom>
          <a:solidFill>
            <a:srgbClr val="EAF3F5"/>
          </a:solidFill>
          <a:ln/>
        </p:spPr>
        <p:txBody>
          <a:bodyPr/>
          <a:lstStyle/>
          <a:p>
            <a:endParaRPr lang="en-IN"/>
          </a:p>
        </p:txBody>
      </p:sp>
      <p:sp>
        <p:nvSpPr>
          <p:cNvPr id="4" name="Shape 2"/>
          <p:cNvSpPr/>
          <p:nvPr/>
        </p:nvSpPr>
        <p:spPr>
          <a:xfrm>
            <a:off x="749808" y="1737360"/>
            <a:ext cx="365760" cy="365760"/>
          </a:xfrm>
          <a:prstGeom prst="ellipse">
            <a:avLst/>
          </a:prstGeom>
          <a:solidFill>
            <a:srgbClr val="FFFFFF"/>
          </a:solidFill>
          <a:ln w="19050">
            <a:solidFill>
              <a:srgbClr val="1C7293"/>
            </a:solidFill>
            <a:prstDash val="solid"/>
          </a:ln>
        </p:spPr>
        <p:txBody>
          <a:bodyPr/>
          <a:lstStyle/>
          <a:p>
            <a:endParaRPr lang="en-IN"/>
          </a:p>
        </p:txBody>
      </p:sp>
      <p:sp>
        <p:nvSpPr>
          <p:cNvPr id="5" name="Text 3"/>
          <p:cNvSpPr/>
          <p:nvPr/>
        </p:nvSpPr>
        <p:spPr>
          <a:xfrm>
            <a:off x="749808" y="1737360"/>
            <a:ext cx="365760" cy="365760"/>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
        <p:nvSpPr>
          <p:cNvPr id="6" name="Text 4"/>
          <p:cNvSpPr/>
          <p:nvPr/>
        </p:nvSpPr>
        <p:spPr>
          <a:xfrm>
            <a:off x="1261872" y="1673352"/>
            <a:ext cx="4434840" cy="960120"/>
          </a:xfrm>
          <a:prstGeom prst="rect">
            <a:avLst/>
          </a:prstGeom>
          <a:noFill/>
          <a:ln/>
        </p:spPr>
        <p:txBody>
          <a:bodyPr wrap="square" lIns="0" tIns="0" rIns="0" bIns="0" rtlCol="0" anchor="ctr"/>
          <a:lstStyle/>
          <a:p>
            <a:pPr marL="0" indent="0">
              <a:lnSpc>
                <a:spcPct val="115000"/>
              </a:lnSpc>
              <a:buNone/>
            </a:pPr>
            <a:r>
              <a:rPr lang="en-US" sz="1350" dirty="0">
                <a:solidFill>
                  <a:srgbClr val="212121"/>
                </a:solidFill>
                <a:latin typeface="Calibri" pitchFamily="34" charset="0"/>
                <a:ea typeface="Calibri" pitchFamily="34" charset="-122"/>
                <a:cs typeface="Calibri" pitchFamily="34" charset="-120"/>
              </a:rPr>
              <a:t>Beginner-friendly — no need to memorize commands or flags</a:t>
            </a:r>
            <a:endParaRPr lang="en-US" sz="1350" dirty="0"/>
          </a:p>
        </p:txBody>
      </p:sp>
      <p:sp>
        <p:nvSpPr>
          <p:cNvPr id="7" name="Shape 5"/>
          <p:cNvSpPr/>
          <p:nvPr/>
        </p:nvSpPr>
        <p:spPr>
          <a:xfrm>
            <a:off x="6263640" y="1554480"/>
            <a:ext cx="5349240" cy="1188720"/>
          </a:xfrm>
          <a:prstGeom prst="roundRect">
            <a:avLst>
              <a:gd name="adj" fmla="val 6154"/>
            </a:avLst>
          </a:prstGeom>
          <a:solidFill>
            <a:srgbClr val="EAF3F5"/>
          </a:solidFill>
          <a:ln/>
        </p:spPr>
        <p:txBody>
          <a:bodyPr/>
          <a:lstStyle/>
          <a:p>
            <a:endParaRPr lang="en-IN"/>
          </a:p>
        </p:txBody>
      </p:sp>
      <p:sp>
        <p:nvSpPr>
          <p:cNvPr id="8" name="Shape 6"/>
          <p:cNvSpPr/>
          <p:nvPr/>
        </p:nvSpPr>
        <p:spPr>
          <a:xfrm>
            <a:off x="6464808" y="1737360"/>
            <a:ext cx="365760" cy="365760"/>
          </a:xfrm>
          <a:prstGeom prst="ellipse">
            <a:avLst/>
          </a:prstGeom>
          <a:solidFill>
            <a:srgbClr val="FFFFFF"/>
          </a:solidFill>
          <a:ln w="19050">
            <a:solidFill>
              <a:srgbClr val="1C7293"/>
            </a:solidFill>
            <a:prstDash val="solid"/>
          </a:ln>
        </p:spPr>
        <p:txBody>
          <a:bodyPr/>
          <a:lstStyle/>
          <a:p>
            <a:endParaRPr lang="en-IN"/>
          </a:p>
        </p:txBody>
      </p:sp>
      <p:sp>
        <p:nvSpPr>
          <p:cNvPr id="9" name="Text 7"/>
          <p:cNvSpPr/>
          <p:nvPr/>
        </p:nvSpPr>
        <p:spPr>
          <a:xfrm>
            <a:off x="6464808" y="1737360"/>
            <a:ext cx="365760" cy="365760"/>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6976872" y="1673352"/>
            <a:ext cx="4434840" cy="960120"/>
          </a:xfrm>
          <a:prstGeom prst="rect">
            <a:avLst/>
          </a:prstGeom>
          <a:noFill/>
          <a:ln/>
        </p:spPr>
        <p:txBody>
          <a:bodyPr wrap="square" lIns="0" tIns="0" rIns="0" bIns="0" rtlCol="0" anchor="ctr"/>
          <a:lstStyle/>
          <a:p>
            <a:pPr marL="0" indent="0">
              <a:lnSpc>
                <a:spcPct val="115000"/>
              </a:lnSpc>
              <a:buNone/>
            </a:pPr>
            <a:r>
              <a:rPr lang="en-US" sz="1350" dirty="0">
                <a:solidFill>
                  <a:srgbClr val="212121"/>
                </a:solidFill>
                <a:latin typeface="Calibri" pitchFamily="34" charset="0"/>
                <a:ea typeface="Calibri" pitchFamily="34" charset="-122"/>
                <a:cs typeface="Calibri" pitchFamily="34" charset="-120"/>
              </a:rPr>
              <a:t>Fewer errors, since the AI generates correct syntax automatically</a:t>
            </a:r>
            <a:endParaRPr lang="en-US" sz="1350" dirty="0"/>
          </a:p>
        </p:txBody>
      </p:sp>
      <p:sp>
        <p:nvSpPr>
          <p:cNvPr id="11" name="Shape 9"/>
          <p:cNvSpPr/>
          <p:nvPr/>
        </p:nvSpPr>
        <p:spPr>
          <a:xfrm>
            <a:off x="548640" y="2971800"/>
            <a:ext cx="5349240" cy="1188720"/>
          </a:xfrm>
          <a:prstGeom prst="roundRect">
            <a:avLst>
              <a:gd name="adj" fmla="val 6154"/>
            </a:avLst>
          </a:prstGeom>
          <a:solidFill>
            <a:srgbClr val="EAF3F5"/>
          </a:solidFill>
          <a:ln/>
        </p:spPr>
        <p:txBody>
          <a:bodyPr/>
          <a:lstStyle/>
          <a:p>
            <a:endParaRPr lang="en-IN"/>
          </a:p>
        </p:txBody>
      </p:sp>
      <p:sp>
        <p:nvSpPr>
          <p:cNvPr id="12" name="Shape 10"/>
          <p:cNvSpPr/>
          <p:nvPr/>
        </p:nvSpPr>
        <p:spPr>
          <a:xfrm>
            <a:off x="749808" y="3154680"/>
            <a:ext cx="365760" cy="365760"/>
          </a:xfrm>
          <a:prstGeom prst="ellipse">
            <a:avLst/>
          </a:prstGeom>
          <a:solidFill>
            <a:srgbClr val="FFFFFF"/>
          </a:solidFill>
          <a:ln w="19050">
            <a:solidFill>
              <a:srgbClr val="1C7293"/>
            </a:solidFill>
            <a:prstDash val="solid"/>
          </a:ln>
        </p:spPr>
        <p:txBody>
          <a:bodyPr/>
          <a:lstStyle/>
          <a:p>
            <a:endParaRPr lang="en-IN"/>
          </a:p>
        </p:txBody>
      </p:sp>
      <p:sp>
        <p:nvSpPr>
          <p:cNvPr id="13" name="Text 11"/>
          <p:cNvSpPr/>
          <p:nvPr/>
        </p:nvSpPr>
        <p:spPr>
          <a:xfrm>
            <a:off x="749808" y="3154680"/>
            <a:ext cx="365760" cy="365760"/>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1261872" y="3090672"/>
            <a:ext cx="4434840" cy="960120"/>
          </a:xfrm>
          <a:prstGeom prst="rect">
            <a:avLst/>
          </a:prstGeom>
          <a:noFill/>
          <a:ln/>
        </p:spPr>
        <p:txBody>
          <a:bodyPr wrap="square" lIns="0" tIns="0" rIns="0" bIns="0" rtlCol="0" anchor="ctr"/>
          <a:lstStyle/>
          <a:p>
            <a:pPr marL="0" indent="0">
              <a:lnSpc>
                <a:spcPct val="115000"/>
              </a:lnSpc>
              <a:buNone/>
            </a:pPr>
            <a:r>
              <a:rPr lang="en-US" sz="1350" dirty="0">
                <a:solidFill>
                  <a:srgbClr val="212121"/>
                </a:solidFill>
                <a:latin typeface="Calibri" pitchFamily="34" charset="0"/>
                <a:ea typeface="Calibri" pitchFamily="34" charset="-122"/>
                <a:cs typeface="Calibri" pitchFamily="34" charset="-120"/>
              </a:rPr>
              <a:t>Built-in safety checks help prevent accidental data loss</a:t>
            </a:r>
            <a:endParaRPr lang="en-US" sz="1350" dirty="0"/>
          </a:p>
        </p:txBody>
      </p:sp>
      <p:sp>
        <p:nvSpPr>
          <p:cNvPr id="15" name="Shape 13"/>
          <p:cNvSpPr/>
          <p:nvPr/>
        </p:nvSpPr>
        <p:spPr>
          <a:xfrm>
            <a:off x="6263640" y="2971800"/>
            <a:ext cx="5349240" cy="1188720"/>
          </a:xfrm>
          <a:prstGeom prst="roundRect">
            <a:avLst>
              <a:gd name="adj" fmla="val 6154"/>
            </a:avLst>
          </a:prstGeom>
          <a:solidFill>
            <a:srgbClr val="EAF3F5"/>
          </a:solidFill>
          <a:ln/>
        </p:spPr>
        <p:txBody>
          <a:bodyPr/>
          <a:lstStyle/>
          <a:p>
            <a:endParaRPr lang="en-IN"/>
          </a:p>
        </p:txBody>
      </p:sp>
      <p:sp>
        <p:nvSpPr>
          <p:cNvPr id="16" name="Shape 14"/>
          <p:cNvSpPr/>
          <p:nvPr/>
        </p:nvSpPr>
        <p:spPr>
          <a:xfrm>
            <a:off x="6464808" y="3154680"/>
            <a:ext cx="365760" cy="365760"/>
          </a:xfrm>
          <a:prstGeom prst="ellipse">
            <a:avLst/>
          </a:prstGeom>
          <a:solidFill>
            <a:srgbClr val="FFFFFF"/>
          </a:solidFill>
          <a:ln w="19050">
            <a:solidFill>
              <a:srgbClr val="1C7293"/>
            </a:solidFill>
            <a:prstDash val="solid"/>
          </a:ln>
        </p:spPr>
        <p:txBody>
          <a:bodyPr/>
          <a:lstStyle/>
          <a:p>
            <a:endParaRPr lang="en-IN"/>
          </a:p>
        </p:txBody>
      </p:sp>
      <p:sp>
        <p:nvSpPr>
          <p:cNvPr id="17" name="Text 15"/>
          <p:cNvSpPr/>
          <p:nvPr/>
        </p:nvSpPr>
        <p:spPr>
          <a:xfrm>
            <a:off x="6464808" y="3154680"/>
            <a:ext cx="365760" cy="365760"/>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6976872" y="3090672"/>
            <a:ext cx="4434840" cy="960120"/>
          </a:xfrm>
          <a:prstGeom prst="rect">
            <a:avLst/>
          </a:prstGeom>
          <a:noFill/>
          <a:ln/>
        </p:spPr>
        <p:txBody>
          <a:bodyPr wrap="square" lIns="0" tIns="0" rIns="0" bIns="0" rtlCol="0" anchor="ctr"/>
          <a:lstStyle/>
          <a:p>
            <a:pPr marL="0" indent="0">
              <a:lnSpc>
                <a:spcPct val="115000"/>
              </a:lnSpc>
              <a:buNone/>
            </a:pPr>
            <a:r>
              <a:rPr lang="en-US" sz="1350" dirty="0">
                <a:solidFill>
                  <a:srgbClr val="212121"/>
                </a:solidFill>
                <a:latin typeface="Calibri" pitchFamily="34" charset="0"/>
                <a:ea typeface="Calibri" pitchFamily="34" charset="-122"/>
                <a:cs typeface="Calibri" pitchFamily="34" charset="-120"/>
              </a:rPr>
              <a:t>Faster workflow — no more searching man pages or documentation</a:t>
            </a:r>
            <a:endParaRPr lang="en-US" sz="1350" dirty="0"/>
          </a:p>
        </p:txBody>
      </p:sp>
      <p:sp>
        <p:nvSpPr>
          <p:cNvPr id="19" name="Shape 17"/>
          <p:cNvSpPr/>
          <p:nvPr/>
        </p:nvSpPr>
        <p:spPr>
          <a:xfrm>
            <a:off x="548640" y="4389120"/>
            <a:ext cx="5349240" cy="1188720"/>
          </a:xfrm>
          <a:prstGeom prst="roundRect">
            <a:avLst>
              <a:gd name="adj" fmla="val 6154"/>
            </a:avLst>
          </a:prstGeom>
          <a:solidFill>
            <a:srgbClr val="EAF3F5"/>
          </a:solidFill>
          <a:ln/>
        </p:spPr>
        <p:txBody>
          <a:bodyPr/>
          <a:lstStyle/>
          <a:p>
            <a:endParaRPr lang="en-IN"/>
          </a:p>
        </p:txBody>
      </p:sp>
      <p:sp>
        <p:nvSpPr>
          <p:cNvPr id="20" name="Shape 18"/>
          <p:cNvSpPr/>
          <p:nvPr/>
        </p:nvSpPr>
        <p:spPr>
          <a:xfrm>
            <a:off x="749808" y="4572000"/>
            <a:ext cx="365760" cy="365760"/>
          </a:xfrm>
          <a:prstGeom prst="ellipse">
            <a:avLst/>
          </a:prstGeom>
          <a:solidFill>
            <a:srgbClr val="FFFFFF"/>
          </a:solidFill>
          <a:ln w="19050">
            <a:solidFill>
              <a:srgbClr val="1C7293"/>
            </a:solidFill>
            <a:prstDash val="solid"/>
          </a:ln>
        </p:spPr>
        <p:txBody>
          <a:bodyPr/>
          <a:lstStyle/>
          <a:p>
            <a:endParaRPr lang="en-IN"/>
          </a:p>
        </p:txBody>
      </p:sp>
      <p:sp>
        <p:nvSpPr>
          <p:cNvPr id="21" name="Text 19"/>
          <p:cNvSpPr/>
          <p:nvPr/>
        </p:nvSpPr>
        <p:spPr>
          <a:xfrm>
            <a:off x="749808" y="4572000"/>
            <a:ext cx="365760" cy="365760"/>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1261872" y="4507992"/>
            <a:ext cx="4434840" cy="960120"/>
          </a:xfrm>
          <a:prstGeom prst="rect">
            <a:avLst/>
          </a:prstGeom>
          <a:noFill/>
          <a:ln/>
        </p:spPr>
        <p:txBody>
          <a:bodyPr wrap="square" lIns="0" tIns="0" rIns="0" bIns="0" rtlCol="0" anchor="ctr"/>
          <a:lstStyle/>
          <a:p>
            <a:pPr marL="0" indent="0">
              <a:lnSpc>
                <a:spcPct val="115000"/>
              </a:lnSpc>
              <a:buNone/>
            </a:pPr>
            <a:r>
              <a:rPr lang="en-US" sz="1350" dirty="0">
                <a:solidFill>
                  <a:srgbClr val="212121"/>
                </a:solidFill>
                <a:latin typeface="Calibri" pitchFamily="34" charset="0"/>
                <a:ea typeface="Calibri" pitchFamily="34" charset="-122"/>
                <a:cs typeface="Calibri" pitchFamily="34" charset="-120"/>
              </a:rPr>
              <a:t>Understands intent, not just keywords, for more accurate suggestions</a:t>
            </a:r>
            <a:endParaRPr lang="en-US" sz="1350" dirty="0"/>
          </a:p>
        </p:txBody>
      </p:sp>
      <p:sp>
        <p:nvSpPr>
          <p:cNvPr id="23" name="Shape 21"/>
          <p:cNvSpPr/>
          <p:nvPr/>
        </p:nvSpPr>
        <p:spPr>
          <a:xfrm>
            <a:off x="6263640" y="4389120"/>
            <a:ext cx="5349240" cy="1188720"/>
          </a:xfrm>
          <a:prstGeom prst="roundRect">
            <a:avLst>
              <a:gd name="adj" fmla="val 6154"/>
            </a:avLst>
          </a:prstGeom>
          <a:solidFill>
            <a:srgbClr val="EAF3F5"/>
          </a:solidFill>
          <a:ln/>
        </p:spPr>
        <p:txBody>
          <a:bodyPr/>
          <a:lstStyle/>
          <a:p>
            <a:endParaRPr lang="en-IN"/>
          </a:p>
        </p:txBody>
      </p:sp>
      <p:sp>
        <p:nvSpPr>
          <p:cNvPr id="24" name="Shape 22"/>
          <p:cNvSpPr/>
          <p:nvPr/>
        </p:nvSpPr>
        <p:spPr>
          <a:xfrm>
            <a:off x="6464808" y="4572000"/>
            <a:ext cx="365760" cy="365760"/>
          </a:xfrm>
          <a:prstGeom prst="ellipse">
            <a:avLst/>
          </a:prstGeom>
          <a:solidFill>
            <a:srgbClr val="FFFFFF"/>
          </a:solidFill>
          <a:ln w="19050">
            <a:solidFill>
              <a:srgbClr val="1C7293"/>
            </a:solidFill>
            <a:prstDash val="solid"/>
          </a:ln>
        </p:spPr>
        <p:txBody>
          <a:bodyPr/>
          <a:lstStyle/>
          <a:p>
            <a:endParaRPr lang="en-IN"/>
          </a:p>
        </p:txBody>
      </p:sp>
      <p:sp>
        <p:nvSpPr>
          <p:cNvPr id="25" name="Text 23"/>
          <p:cNvSpPr/>
          <p:nvPr/>
        </p:nvSpPr>
        <p:spPr>
          <a:xfrm>
            <a:off x="6464808" y="4572000"/>
            <a:ext cx="365760" cy="365760"/>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a:t>
            </a:r>
            <a:endParaRPr lang="en-US" sz="1400" dirty="0"/>
          </a:p>
        </p:txBody>
      </p:sp>
      <p:sp>
        <p:nvSpPr>
          <p:cNvPr id="26" name="Text 24"/>
          <p:cNvSpPr/>
          <p:nvPr/>
        </p:nvSpPr>
        <p:spPr>
          <a:xfrm>
            <a:off x="6976872" y="4507992"/>
            <a:ext cx="4434840" cy="960120"/>
          </a:xfrm>
          <a:prstGeom prst="rect">
            <a:avLst/>
          </a:prstGeom>
          <a:noFill/>
          <a:ln/>
        </p:spPr>
        <p:txBody>
          <a:bodyPr wrap="square" lIns="0" tIns="0" rIns="0" bIns="0" rtlCol="0" anchor="ctr"/>
          <a:lstStyle/>
          <a:p>
            <a:pPr marL="0" indent="0">
              <a:lnSpc>
                <a:spcPct val="115000"/>
              </a:lnSpc>
              <a:buNone/>
            </a:pPr>
            <a:r>
              <a:rPr lang="en-US" sz="1350" dirty="0">
                <a:solidFill>
                  <a:srgbClr val="212121"/>
                </a:solidFill>
                <a:latin typeface="Calibri" pitchFamily="34" charset="0"/>
                <a:ea typeface="Calibri" pitchFamily="34" charset="-122"/>
                <a:cs typeface="Calibri" pitchFamily="34" charset="-120"/>
              </a:rPr>
              <a:t>Fully integrated into the terminal — no copy-pasting from external tools</a:t>
            </a:r>
            <a:endParaRPr lang="en-US" sz="1350" dirty="0"/>
          </a:p>
        </p:txBody>
      </p:sp>
      <p:sp>
        <p:nvSpPr>
          <p:cNvPr id="27" name="Text 25"/>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5A5A5A"/>
                </a:solidFill>
                <a:latin typeface="Calibri" pitchFamily="34" charset="0"/>
                <a:ea typeface="Calibri" pitchFamily="34" charset="-122"/>
                <a:cs typeface="Calibri" pitchFamily="34" charset="-120"/>
              </a:rPr>
              <a:t>IntelliShell – AI-Based Smart Linux Command Shell</a:t>
            </a:r>
            <a:endParaRPr lang="en-US" sz="900" dirty="0"/>
          </a:p>
        </p:txBody>
      </p:sp>
      <p:sp>
        <p:nvSpPr>
          <p:cNvPr id="28" name="Text 26"/>
          <p:cNvSpPr/>
          <p:nvPr/>
        </p:nvSpPr>
        <p:spPr>
          <a:xfrm>
            <a:off x="11612880" y="6510528"/>
            <a:ext cx="36576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lgn="l">
              <a:buNone/>
            </a:pPr>
            <a:r>
              <a:rPr lang="en-US" sz="3200" b="1" dirty="0">
                <a:solidFill>
                  <a:srgbClr val="0B3D46"/>
                </a:solidFill>
                <a:latin typeface="Cambria" pitchFamily="34" charset="0"/>
                <a:ea typeface="Cambria" pitchFamily="34" charset="-122"/>
                <a:cs typeface="Cambria" pitchFamily="34" charset="-120"/>
              </a:rPr>
              <a:t>Technologies &amp; Concepts</a:t>
            </a:r>
            <a:endParaRPr lang="en-US" sz="3200" dirty="0"/>
          </a:p>
        </p:txBody>
      </p:sp>
      <p:sp>
        <p:nvSpPr>
          <p:cNvPr id="3" name="Shape 1"/>
          <p:cNvSpPr/>
          <p:nvPr/>
        </p:nvSpPr>
        <p:spPr>
          <a:xfrm>
            <a:off x="548640" y="1554480"/>
            <a:ext cx="5349240" cy="502920"/>
          </a:xfrm>
          <a:prstGeom prst="roundRect">
            <a:avLst>
              <a:gd name="adj" fmla="val 14545"/>
            </a:avLst>
          </a:prstGeom>
          <a:solidFill>
            <a:srgbClr val="1C7293"/>
          </a:solidFill>
          <a:ln/>
        </p:spPr>
        <p:txBody>
          <a:bodyPr/>
          <a:lstStyle/>
          <a:p>
            <a:endParaRPr lang="en-IN"/>
          </a:p>
        </p:txBody>
      </p:sp>
      <p:sp>
        <p:nvSpPr>
          <p:cNvPr id="4" name="Text 2"/>
          <p:cNvSpPr/>
          <p:nvPr/>
        </p:nvSpPr>
        <p:spPr>
          <a:xfrm>
            <a:off x="548640" y="1554480"/>
            <a:ext cx="534924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Core Technologies</a:t>
            </a:r>
            <a:endParaRPr lang="en-US" sz="1500" dirty="0"/>
          </a:p>
        </p:txBody>
      </p:sp>
      <p:sp>
        <p:nvSpPr>
          <p:cNvPr id="5" name="Shape 3"/>
          <p:cNvSpPr/>
          <p:nvPr/>
        </p:nvSpPr>
        <p:spPr>
          <a:xfrm>
            <a:off x="6263640" y="1554480"/>
            <a:ext cx="5349240" cy="502920"/>
          </a:xfrm>
          <a:prstGeom prst="roundRect">
            <a:avLst>
              <a:gd name="adj" fmla="val 14545"/>
            </a:avLst>
          </a:prstGeom>
          <a:solidFill>
            <a:srgbClr val="0B3D46"/>
          </a:solidFill>
          <a:ln/>
        </p:spPr>
        <p:txBody>
          <a:bodyPr/>
          <a:lstStyle/>
          <a:p>
            <a:endParaRPr lang="en-IN"/>
          </a:p>
        </p:txBody>
      </p:sp>
      <p:sp>
        <p:nvSpPr>
          <p:cNvPr id="6" name="Text 4"/>
          <p:cNvSpPr/>
          <p:nvPr/>
        </p:nvSpPr>
        <p:spPr>
          <a:xfrm>
            <a:off x="6263640" y="1554480"/>
            <a:ext cx="534924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Key Concepts</a:t>
            </a:r>
            <a:endParaRPr lang="en-US" sz="1500" dirty="0"/>
          </a:p>
        </p:txBody>
      </p:sp>
      <p:sp>
        <p:nvSpPr>
          <p:cNvPr id="7" name="Shape 5"/>
          <p:cNvSpPr/>
          <p:nvPr/>
        </p:nvSpPr>
        <p:spPr>
          <a:xfrm>
            <a:off x="548640" y="2240280"/>
            <a:ext cx="5349240" cy="713232"/>
          </a:xfrm>
          <a:prstGeom prst="rect">
            <a:avLst/>
          </a:prstGeom>
          <a:solidFill>
            <a:srgbClr val="EAF3F5"/>
          </a:solidFill>
          <a:ln/>
        </p:spPr>
        <p:txBody>
          <a:bodyPr/>
          <a:lstStyle/>
          <a:p>
            <a:endParaRPr lang="en-IN"/>
          </a:p>
        </p:txBody>
      </p:sp>
      <p:sp>
        <p:nvSpPr>
          <p:cNvPr id="8" name="Text 6"/>
          <p:cNvSpPr/>
          <p:nvPr/>
        </p:nvSpPr>
        <p:spPr>
          <a:xfrm>
            <a:off x="731520" y="2240280"/>
            <a:ext cx="4983480" cy="310896"/>
          </a:xfrm>
          <a:prstGeom prst="rect">
            <a:avLst/>
          </a:prstGeom>
          <a:noFill/>
          <a:ln/>
        </p:spPr>
        <p:txBody>
          <a:bodyPr wrap="square" lIns="0" tIns="0" rIns="0" bIns="0" rtlCol="0" anchor="b"/>
          <a:lstStyle/>
          <a:p>
            <a:pPr marL="0" indent="0">
              <a:buNone/>
            </a:pPr>
            <a:r>
              <a:rPr lang="en-US" sz="1250" b="1" dirty="0">
                <a:solidFill>
                  <a:srgbClr val="0B3D46"/>
                </a:solidFill>
                <a:latin typeface="Calibri" pitchFamily="34" charset="0"/>
                <a:ea typeface="Calibri" pitchFamily="34" charset="-122"/>
                <a:cs typeface="Calibri" pitchFamily="34" charset="-120"/>
              </a:rPr>
              <a:t>Python</a:t>
            </a:r>
            <a:endParaRPr lang="en-US" sz="1250" dirty="0"/>
          </a:p>
        </p:txBody>
      </p:sp>
      <p:sp>
        <p:nvSpPr>
          <p:cNvPr id="9" name="Text 7"/>
          <p:cNvSpPr/>
          <p:nvPr/>
        </p:nvSpPr>
        <p:spPr>
          <a:xfrm>
            <a:off x="731520" y="2532888"/>
            <a:ext cx="4983480" cy="365760"/>
          </a:xfrm>
          <a:prstGeom prst="rect">
            <a:avLst/>
          </a:prstGeom>
          <a:noFill/>
          <a:ln/>
        </p:spPr>
        <p:txBody>
          <a:bodyPr wrap="square" lIns="0" tIns="0" rIns="0" bIns="0" rtlCol="0" anchor="t"/>
          <a:lstStyle/>
          <a:p>
            <a:pPr marL="0" indent="0">
              <a:buNone/>
            </a:pPr>
            <a:r>
              <a:rPr lang="en-US" sz="1200" dirty="0">
                <a:solidFill>
                  <a:srgbClr val="212121"/>
                </a:solidFill>
                <a:latin typeface="Calibri" pitchFamily="34" charset="0"/>
                <a:ea typeface="Calibri" pitchFamily="34" charset="-122"/>
                <a:cs typeface="Calibri" pitchFamily="34" charset="-120"/>
              </a:rPr>
              <a:t>Core application logic and command-line integration</a:t>
            </a:r>
            <a:endParaRPr lang="en-US" sz="1200" dirty="0"/>
          </a:p>
        </p:txBody>
      </p:sp>
      <p:sp>
        <p:nvSpPr>
          <p:cNvPr id="10" name="Shape 8"/>
          <p:cNvSpPr/>
          <p:nvPr/>
        </p:nvSpPr>
        <p:spPr>
          <a:xfrm>
            <a:off x="548640" y="2953512"/>
            <a:ext cx="5349240" cy="713232"/>
          </a:xfrm>
          <a:prstGeom prst="rect">
            <a:avLst/>
          </a:prstGeom>
          <a:solidFill>
            <a:srgbClr val="FFFFFF"/>
          </a:solidFill>
          <a:ln/>
        </p:spPr>
        <p:txBody>
          <a:bodyPr/>
          <a:lstStyle/>
          <a:p>
            <a:endParaRPr lang="en-IN"/>
          </a:p>
        </p:txBody>
      </p:sp>
      <p:sp>
        <p:nvSpPr>
          <p:cNvPr id="11" name="Text 9"/>
          <p:cNvSpPr/>
          <p:nvPr/>
        </p:nvSpPr>
        <p:spPr>
          <a:xfrm>
            <a:off x="731520" y="2953512"/>
            <a:ext cx="4983480" cy="310896"/>
          </a:xfrm>
          <a:prstGeom prst="rect">
            <a:avLst/>
          </a:prstGeom>
          <a:noFill/>
          <a:ln/>
        </p:spPr>
        <p:txBody>
          <a:bodyPr wrap="square" lIns="0" tIns="0" rIns="0" bIns="0" rtlCol="0" anchor="b"/>
          <a:lstStyle/>
          <a:p>
            <a:pPr marL="0" indent="0">
              <a:buNone/>
            </a:pPr>
            <a:r>
              <a:rPr lang="en-US" sz="1250" b="1" dirty="0">
                <a:solidFill>
                  <a:srgbClr val="0B3D46"/>
                </a:solidFill>
                <a:latin typeface="Calibri" pitchFamily="34" charset="0"/>
                <a:ea typeface="Calibri" pitchFamily="34" charset="-122"/>
                <a:cs typeface="Calibri" pitchFamily="34" charset="-120"/>
              </a:rPr>
              <a:t>LLM API</a:t>
            </a:r>
            <a:endParaRPr lang="en-US" sz="1250" dirty="0"/>
          </a:p>
        </p:txBody>
      </p:sp>
      <p:sp>
        <p:nvSpPr>
          <p:cNvPr id="12" name="Text 10"/>
          <p:cNvSpPr/>
          <p:nvPr/>
        </p:nvSpPr>
        <p:spPr>
          <a:xfrm>
            <a:off x="731520" y="3246120"/>
            <a:ext cx="4983480" cy="365760"/>
          </a:xfrm>
          <a:prstGeom prst="rect">
            <a:avLst/>
          </a:prstGeom>
          <a:noFill/>
          <a:ln/>
        </p:spPr>
        <p:txBody>
          <a:bodyPr wrap="square" lIns="0" tIns="0" rIns="0" bIns="0" rtlCol="0" anchor="t"/>
          <a:lstStyle/>
          <a:p>
            <a:pPr marL="0" indent="0">
              <a:buNone/>
            </a:pPr>
            <a:r>
              <a:rPr lang="en-US" sz="1200" dirty="0">
                <a:solidFill>
                  <a:srgbClr val="212121"/>
                </a:solidFill>
                <a:latin typeface="Calibri" pitchFamily="34" charset="0"/>
                <a:ea typeface="Calibri" pitchFamily="34" charset="-122"/>
                <a:cs typeface="Calibri" pitchFamily="34" charset="-120"/>
              </a:rPr>
              <a:t>Natural-language understanding and command generation</a:t>
            </a:r>
            <a:endParaRPr lang="en-US" sz="1200" dirty="0"/>
          </a:p>
        </p:txBody>
      </p:sp>
      <p:sp>
        <p:nvSpPr>
          <p:cNvPr id="13" name="Shape 11"/>
          <p:cNvSpPr/>
          <p:nvPr/>
        </p:nvSpPr>
        <p:spPr>
          <a:xfrm>
            <a:off x="548640" y="3666744"/>
            <a:ext cx="5349240" cy="713232"/>
          </a:xfrm>
          <a:prstGeom prst="rect">
            <a:avLst/>
          </a:prstGeom>
          <a:solidFill>
            <a:srgbClr val="EAF3F5"/>
          </a:solidFill>
          <a:ln/>
        </p:spPr>
        <p:txBody>
          <a:bodyPr/>
          <a:lstStyle/>
          <a:p>
            <a:endParaRPr lang="en-IN"/>
          </a:p>
        </p:txBody>
      </p:sp>
      <p:sp>
        <p:nvSpPr>
          <p:cNvPr id="14" name="Text 12"/>
          <p:cNvSpPr/>
          <p:nvPr/>
        </p:nvSpPr>
        <p:spPr>
          <a:xfrm>
            <a:off x="731520" y="3666744"/>
            <a:ext cx="4983480" cy="310896"/>
          </a:xfrm>
          <a:prstGeom prst="rect">
            <a:avLst/>
          </a:prstGeom>
          <a:noFill/>
          <a:ln/>
        </p:spPr>
        <p:txBody>
          <a:bodyPr wrap="square" lIns="0" tIns="0" rIns="0" bIns="0" rtlCol="0" anchor="b"/>
          <a:lstStyle/>
          <a:p>
            <a:pPr marL="0" indent="0">
              <a:buNone/>
            </a:pPr>
            <a:r>
              <a:rPr lang="en-US" sz="1250" b="1" dirty="0">
                <a:solidFill>
                  <a:srgbClr val="0B3D46"/>
                </a:solidFill>
                <a:latin typeface="Calibri" pitchFamily="34" charset="0"/>
                <a:ea typeface="Calibri" pitchFamily="34" charset="-122"/>
                <a:cs typeface="Calibri" pitchFamily="34" charset="-120"/>
              </a:rPr>
              <a:t>Shell Scripting</a:t>
            </a:r>
            <a:endParaRPr lang="en-US" sz="1250" dirty="0"/>
          </a:p>
        </p:txBody>
      </p:sp>
      <p:sp>
        <p:nvSpPr>
          <p:cNvPr id="15" name="Text 13"/>
          <p:cNvSpPr/>
          <p:nvPr/>
        </p:nvSpPr>
        <p:spPr>
          <a:xfrm>
            <a:off x="731520" y="3959352"/>
            <a:ext cx="4983480" cy="365760"/>
          </a:xfrm>
          <a:prstGeom prst="rect">
            <a:avLst/>
          </a:prstGeom>
          <a:noFill/>
          <a:ln/>
        </p:spPr>
        <p:txBody>
          <a:bodyPr wrap="square" lIns="0" tIns="0" rIns="0" bIns="0" rtlCol="0" anchor="t"/>
          <a:lstStyle/>
          <a:p>
            <a:pPr marL="0" indent="0">
              <a:buNone/>
            </a:pPr>
            <a:r>
              <a:rPr lang="en-US" sz="1200" dirty="0">
                <a:solidFill>
                  <a:srgbClr val="212121"/>
                </a:solidFill>
                <a:latin typeface="Calibri" pitchFamily="34" charset="0"/>
                <a:ea typeface="Calibri" pitchFamily="34" charset="-122"/>
                <a:cs typeface="Calibri" pitchFamily="34" charset="-120"/>
              </a:rPr>
              <a:t>Bash / Zsh for executing translated commands</a:t>
            </a:r>
            <a:endParaRPr lang="en-US" sz="1200" dirty="0"/>
          </a:p>
        </p:txBody>
      </p:sp>
      <p:sp>
        <p:nvSpPr>
          <p:cNvPr id="16" name="Shape 14"/>
          <p:cNvSpPr/>
          <p:nvPr/>
        </p:nvSpPr>
        <p:spPr>
          <a:xfrm>
            <a:off x="548640" y="4379976"/>
            <a:ext cx="5349240" cy="713232"/>
          </a:xfrm>
          <a:prstGeom prst="rect">
            <a:avLst/>
          </a:prstGeom>
          <a:solidFill>
            <a:srgbClr val="FFFFFF"/>
          </a:solidFill>
          <a:ln/>
        </p:spPr>
        <p:txBody>
          <a:bodyPr/>
          <a:lstStyle/>
          <a:p>
            <a:endParaRPr lang="en-IN"/>
          </a:p>
        </p:txBody>
      </p:sp>
      <p:sp>
        <p:nvSpPr>
          <p:cNvPr id="17" name="Text 15"/>
          <p:cNvSpPr/>
          <p:nvPr/>
        </p:nvSpPr>
        <p:spPr>
          <a:xfrm>
            <a:off x="731520" y="4379976"/>
            <a:ext cx="4983480" cy="310896"/>
          </a:xfrm>
          <a:prstGeom prst="rect">
            <a:avLst/>
          </a:prstGeom>
          <a:noFill/>
          <a:ln/>
        </p:spPr>
        <p:txBody>
          <a:bodyPr wrap="square" lIns="0" tIns="0" rIns="0" bIns="0" rtlCol="0" anchor="b"/>
          <a:lstStyle/>
          <a:p>
            <a:pPr marL="0" indent="0">
              <a:buNone/>
            </a:pPr>
            <a:r>
              <a:rPr lang="en-US" sz="1250" b="1" dirty="0">
                <a:solidFill>
                  <a:srgbClr val="0B3D46"/>
                </a:solidFill>
                <a:latin typeface="Calibri" pitchFamily="34" charset="0"/>
                <a:ea typeface="Calibri" pitchFamily="34" charset="-122"/>
                <a:cs typeface="Calibri" pitchFamily="34" charset="-120"/>
              </a:rPr>
              <a:t>Regex &amp; Parsing</a:t>
            </a:r>
            <a:endParaRPr lang="en-US" sz="1250" dirty="0"/>
          </a:p>
        </p:txBody>
      </p:sp>
      <p:sp>
        <p:nvSpPr>
          <p:cNvPr id="18" name="Text 16"/>
          <p:cNvSpPr/>
          <p:nvPr/>
        </p:nvSpPr>
        <p:spPr>
          <a:xfrm>
            <a:off x="731520" y="4672584"/>
            <a:ext cx="4983480" cy="365760"/>
          </a:xfrm>
          <a:prstGeom prst="rect">
            <a:avLst/>
          </a:prstGeom>
          <a:noFill/>
          <a:ln/>
        </p:spPr>
        <p:txBody>
          <a:bodyPr wrap="square" lIns="0" tIns="0" rIns="0" bIns="0" rtlCol="0" anchor="t"/>
          <a:lstStyle/>
          <a:p>
            <a:pPr marL="0" indent="0">
              <a:buNone/>
            </a:pPr>
            <a:r>
              <a:rPr lang="en-US" sz="1200" dirty="0">
                <a:solidFill>
                  <a:srgbClr val="212121"/>
                </a:solidFill>
                <a:latin typeface="Calibri" pitchFamily="34" charset="0"/>
                <a:ea typeface="Calibri" pitchFamily="34" charset="-122"/>
                <a:cs typeface="Calibri" pitchFamily="34" charset="-120"/>
              </a:rPr>
              <a:t>Validating and structuring command output</a:t>
            </a:r>
            <a:endParaRPr lang="en-US" sz="1200" dirty="0"/>
          </a:p>
        </p:txBody>
      </p:sp>
      <p:sp>
        <p:nvSpPr>
          <p:cNvPr id="19" name="Shape 17"/>
          <p:cNvSpPr/>
          <p:nvPr/>
        </p:nvSpPr>
        <p:spPr>
          <a:xfrm>
            <a:off x="6263640" y="2240280"/>
            <a:ext cx="5349240" cy="713232"/>
          </a:xfrm>
          <a:prstGeom prst="rect">
            <a:avLst/>
          </a:prstGeom>
          <a:solidFill>
            <a:srgbClr val="EAF3F5"/>
          </a:solidFill>
          <a:ln/>
        </p:spPr>
        <p:txBody>
          <a:bodyPr/>
          <a:lstStyle/>
          <a:p>
            <a:endParaRPr lang="en-IN"/>
          </a:p>
        </p:txBody>
      </p:sp>
      <p:sp>
        <p:nvSpPr>
          <p:cNvPr id="20" name="Text 18"/>
          <p:cNvSpPr/>
          <p:nvPr/>
        </p:nvSpPr>
        <p:spPr>
          <a:xfrm>
            <a:off x="6446520" y="2240280"/>
            <a:ext cx="4983480" cy="310896"/>
          </a:xfrm>
          <a:prstGeom prst="rect">
            <a:avLst/>
          </a:prstGeom>
          <a:noFill/>
          <a:ln/>
        </p:spPr>
        <p:txBody>
          <a:bodyPr wrap="square" lIns="0" tIns="0" rIns="0" bIns="0" rtlCol="0" anchor="b"/>
          <a:lstStyle/>
          <a:p>
            <a:pPr marL="0" indent="0">
              <a:buNone/>
            </a:pPr>
            <a:r>
              <a:rPr lang="en-US" sz="1250" b="1" dirty="0">
                <a:solidFill>
                  <a:srgbClr val="0B3D46"/>
                </a:solidFill>
                <a:latin typeface="Calibri" pitchFamily="34" charset="0"/>
                <a:ea typeface="Calibri" pitchFamily="34" charset="-122"/>
                <a:cs typeface="Calibri" pitchFamily="34" charset="-120"/>
              </a:rPr>
              <a:t>Natural Language Processing</a:t>
            </a:r>
            <a:endParaRPr lang="en-US" sz="1250" dirty="0"/>
          </a:p>
        </p:txBody>
      </p:sp>
      <p:sp>
        <p:nvSpPr>
          <p:cNvPr id="21" name="Text 19"/>
          <p:cNvSpPr/>
          <p:nvPr/>
        </p:nvSpPr>
        <p:spPr>
          <a:xfrm>
            <a:off x="6446520" y="2532888"/>
            <a:ext cx="4983480" cy="365760"/>
          </a:xfrm>
          <a:prstGeom prst="rect">
            <a:avLst/>
          </a:prstGeom>
          <a:noFill/>
          <a:ln/>
        </p:spPr>
        <p:txBody>
          <a:bodyPr wrap="square" lIns="0" tIns="0" rIns="0" bIns="0" rtlCol="0" anchor="t"/>
          <a:lstStyle/>
          <a:p>
            <a:pPr marL="0" indent="0">
              <a:buNone/>
            </a:pPr>
            <a:r>
              <a:rPr lang="en-US" sz="1200" dirty="0">
                <a:solidFill>
                  <a:srgbClr val="212121"/>
                </a:solidFill>
                <a:latin typeface="Calibri" pitchFamily="34" charset="0"/>
                <a:ea typeface="Calibri" pitchFamily="34" charset="-122"/>
                <a:cs typeface="Calibri" pitchFamily="34" charset="-120"/>
              </a:rPr>
              <a:t>Interpreting user intent from plain-English input</a:t>
            </a:r>
            <a:endParaRPr lang="en-US" sz="1200" dirty="0"/>
          </a:p>
        </p:txBody>
      </p:sp>
      <p:sp>
        <p:nvSpPr>
          <p:cNvPr id="22" name="Shape 20"/>
          <p:cNvSpPr/>
          <p:nvPr/>
        </p:nvSpPr>
        <p:spPr>
          <a:xfrm>
            <a:off x="6263640" y="2953512"/>
            <a:ext cx="5349240" cy="713232"/>
          </a:xfrm>
          <a:prstGeom prst="rect">
            <a:avLst/>
          </a:prstGeom>
          <a:solidFill>
            <a:srgbClr val="FFFFFF"/>
          </a:solidFill>
          <a:ln/>
        </p:spPr>
        <p:txBody>
          <a:bodyPr/>
          <a:lstStyle/>
          <a:p>
            <a:endParaRPr lang="en-IN"/>
          </a:p>
        </p:txBody>
      </p:sp>
      <p:sp>
        <p:nvSpPr>
          <p:cNvPr id="23" name="Text 21"/>
          <p:cNvSpPr/>
          <p:nvPr/>
        </p:nvSpPr>
        <p:spPr>
          <a:xfrm>
            <a:off x="6446520" y="2953512"/>
            <a:ext cx="4983480" cy="310896"/>
          </a:xfrm>
          <a:prstGeom prst="rect">
            <a:avLst/>
          </a:prstGeom>
          <a:noFill/>
          <a:ln/>
        </p:spPr>
        <p:txBody>
          <a:bodyPr wrap="square" lIns="0" tIns="0" rIns="0" bIns="0" rtlCol="0" anchor="b"/>
          <a:lstStyle/>
          <a:p>
            <a:pPr marL="0" indent="0">
              <a:buNone/>
            </a:pPr>
            <a:r>
              <a:rPr lang="en-US" sz="1250" b="1" dirty="0">
                <a:solidFill>
                  <a:srgbClr val="0B3D46"/>
                </a:solidFill>
                <a:latin typeface="Calibri" pitchFamily="34" charset="0"/>
                <a:ea typeface="Calibri" pitchFamily="34" charset="-122"/>
                <a:cs typeface="Calibri" pitchFamily="34" charset="-120"/>
              </a:rPr>
              <a:t>Prompt Engineering</a:t>
            </a:r>
            <a:endParaRPr lang="en-US" sz="1250" dirty="0"/>
          </a:p>
        </p:txBody>
      </p:sp>
      <p:sp>
        <p:nvSpPr>
          <p:cNvPr id="24" name="Text 22"/>
          <p:cNvSpPr/>
          <p:nvPr/>
        </p:nvSpPr>
        <p:spPr>
          <a:xfrm>
            <a:off x="6446520" y="3246120"/>
            <a:ext cx="4983480" cy="365760"/>
          </a:xfrm>
          <a:prstGeom prst="rect">
            <a:avLst/>
          </a:prstGeom>
          <a:noFill/>
          <a:ln/>
        </p:spPr>
        <p:txBody>
          <a:bodyPr wrap="square" lIns="0" tIns="0" rIns="0" bIns="0" rtlCol="0" anchor="t"/>
          <a:lstStyle/>
          <a:p>
            <a:pPr marL="0" indent="0">
              <a:buNone/>
            </a:pPr>
            <a:r>
              <a:rPr lang="en-US" sz="1200" dirty="0">
                <a:solidFill>
                  <a:srgbClr val="212121"/>
                </a:solidFill>
                <a:latin typeface="Calibri" pitchFamily="34" charset="0"/>
                <a:ea typeface="Calibri" pitchFamily="34" charset="-122"/>
                <a:cs typeface="Calibri" pitchFamily="34" charset="-120"/>
              </a:rPr>
              <a:t>Guiding the AI model toward accurate, safe commands</a:t>
            </a:r>
            <a:endParaRPr lang="en-US" sz="1200" dirty="0"/>
          </a:p>
        </p:txBody>
      </p:sp>
      <p:sp>
        <p:nvSpPr>
          <p:cNvPr id="25" name="Shape 23"/>
          <p:cNvSpPr/>
          <p:nvPr/>
        </p:nvSpPr>
        <p:spPr>
          <a:xfrm>
            <a:off x="6263640" y="3666744"/>
            <a:ext cx="5349240" cy="713232"/>
          </a:xfrm>
          <a:prstGeom prst="rect">
            <a:avLst/>
          </a:prstGeom>
          <a:solidFill>
            <a:srgbClr val="EAF3F5"/>
          </a:solidFill>
          <a:ln/>
        </p:spPr>
        <p:txBody>
          <a:bodyPr/>
          <a:lstStyle/>
          <a:p>
            <a:endParaRPr lang="en-IN"/>
          </a:p>
        </p:txBody>
      </p:sp>
      <p:sp>
        <p:nvSpPr>
          <p:cNvPr id="26" name="Text 24"/>
          <p:cNvSpPr/>
          <p:nvPr/>
        </p:nvSpPr>
        <p:spPr>
          <a:xfrm>
            <a:off x="6446520" y="3666744"/>
            <a:ext cx="4983480" cy="310896"/>
          </a:xfrm>
          <a:prstGeom prst="rect">
            <a:avLst/>
          </a:prstGeom>
          <a:noFill/>
          <a:ln/>
        </p:spPr>
        <p:txBody>
          <a:bodyPr wrap="square" lIns="0" tIns="0" rIns="0" bIns="0" rtlCol="0" anchor="b"/>
          <a:lstStyle/>
          <a:p>
            <a:pPr marL="0" indent="0">
              <a:buNone/>
            </a:pPr>
            <a:r>
              <a:rPr lang="en-US" sz="1250" b="1" dirty="0">
                <a:solidFill>
                  <a:srgbClr val="0B3D46"/>
                </a:solidFill>
                <a:latin typeface="Calibri" pitchFamily="34" charset="0"/>
                <a:ea typeface="Calibri" pitchFamily="34" charset="-122"/>
                <a:cs typeface="Calibri" pitchFamily="34" charset="-120"/>
              </a:rPr>
              <a:t>Human-in-the-Loop Safety</a:t>
            </a:r>
            <a:endParaRPr lang="en-US" sz="1250" dirty="0"/>
          </a:p>
        </p:txBody>
      </p:sp>
      <p:sp>
        <p:nvSpPr>
          <p:cNvPr id="27" name="Text 25"/>
          <p:cNvSpPr/>
          <p:nvPr/>
        </p:nvSpPr>
        <p:spPr>
          <a:xfrm>
            <a:off x="6446520" y="3959352"/>
            <a:ext cx="4983480" cy="365760"/>
          </a:xfrm>
          <a:prstGeom prst="rect">
            <a:avLst/>
          </a:prstGeom>
          <a:noFill/>
          <a:ln/>
        </p:spPr>
        <p:txBody>
          <a:bodyPr wrap="square" lIns="0" tIns="0" rIns="0" bIns="0" rtlCol="0" anchor="t"/>
          <a:lstStyle/>
          <a:p>
            <a:pPr marL="0" indent="0">
              <a:buNone/>
            </a:pPr>
            <a:r>
              <a:rPr lang="en-US" sz="1200" dirty="0">
                <a:solidFill>
                  <a:srgbClr val="212121"/>
                </a:solidFill>
                <a:latin typeface="Calibri" pitchFamily="34" charset="0"/>
                <a:ea typeface="Calibri" pitchFamily="34" charset="-122"/>
                <a:cs typeface="Calibri" pitchFamily="34" charset="-120"/>
              </a:rPr>
              <a:t>Confirming risky actions before execution</a:t>
            </a:r>
            <a:endParaRPr lang="en-US" sz="1200" dirty="0"/>
          </a:p>
        </p:txBody>
      </p:sp>
      <p:sp>
        <p:nvSpPr>
          <p:cNvPr id="28" name="Shape 26"/>
          <p:cNvSpPr/>
          <p:nvPr/>
        </p:nvSpPr>
        <p:spPr>
          <a:xfrm>
            <a:off x="6263640" y="4379976"/>
            <a:ext cx="5349240" cy="713232"/>
          </a:xfrm>
          <a:prstGeom prst="rect">
            <a:avLst/>
          </a:prstGeom>
          <a:solidFill>
            <a:srgbClr val="FFFFFF"/>
          </a:solidFill>
          <a:ln/>
        </p:spPr>
        <p:txBody>
          <a:bodyPr/>
          <a:lstStyle/>
          <a:p>
            <a:endParaRPr lang="en-IN"/>
          </a:p>
        </p:txBody>
      </p:sp>
      <p:sp>
        <p:nvSpPr>
          <p:cNvPr id="29" name="Text 27"/>
          <p:cNvSpPr/>
          <p:nvPr/>
        </p:nvSpPr>
        <p:spPr>
          <a:xfrm>
            <a:off x="6446520" y="4379976"/>
            <a:ext cx="4983480" cy="310896"/>
          </a:xfrm>
          <a:prstGeom prst="rect">
            <a:avLst/>
          </a:prstGeom>
          <a:noFill/>
          <a:ln/>
        </p:spPr>
        <p:txBody>
          <a:bodyPr wrap="square" lIns="0" tIns="0" rIns="0" bIns="0" rtlCol="0" anchor="b"/>
          <a:lstStyle/>
          <a:p>
            <a:pPr marL="0" indent="0">
              <a:buNone/>
            </a:pPr>
            <a:r>
              <a:rPr lang="en-US" sz="1250" b="1" dirty="0">
                <a:solidFill>
                  <a:srgbClr val="0B3D46"/>
                </a:solidFill>
                <a:latin typeface="Calibri" pitchFamily="34" charset="0"/>
                <a:ea typeface="Calibri" pitchFamily="34" charset="-122"/>
                <a:cs typeface="Calibri" pitchFamily="34" charset="-120"/>
              </a:rPr>
              <a:t>Context Awareness</a:t>
            </a:r>
            <a:endParaRPr lang="en-US" sz="1250" dirty="0"/>
          </a:p>
        </p:txBody>
      </p:sp>
      <p:sp>
        <p:nvSpPr>
          <p:cNvPr id="30" name="Text 28"/>
          <p:cNvSpPr/>
          <p:nvPr/>
        </p:nvSpPr>
        <p:spPr>
          <a:xfrm>
            <a:off x="6446520" y="4672584"/>
            <a:ext cx="4983480" cy="365760"/>
          </a:xfrm>
          <a:prstGeom prst="rect">
            <a:avLst/>
          </a:prstGeom>
          <a:noFill/>
          <a:ln/>
        </p:spPr>
        <p:txBody>
          <a:bodyPr wrap="square" lIns="0" tIns="0" rIns="0" bIns="0" rtlCol="0" anchor="t"/>
          <a:lstStyle/>
          <a:p>
            <a:pPr marL="0" indent="0">
              <a:buNone/>
            </a:pPr>
            <a:r>
              <a:rPr lang="en-US" sz="1200" dirty="0">
                <a:solidFill>
                  <a:srgbClr val="212121"/>
                </a:solidFill>
                <a:latin typeface="Calibri" pitchFamily="34" charset="0"/>
                <a:ea typeface="Calibri" pitchFamily="34" charset="-122"/>
                <a:cs typeface="Calibri" pitchFamily="34" charset="-120"/>
              </a:rPr>
              <a:t>Learning from command history to personalize suggestions</a:t>
            </a:r>
            <a:endParaRPr lang="en-US" sz="1200" dirty="0"/>
          </a:p>
        </p:txBody>
      </p:sp>
      <p:sp>
        <p:nvSpPr>
          <p:cNvPr id="31" name="Text 29"/>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5A5A5A"/>
                </a:solidFill>
                <a:latin typeface="Calibri" pitchFamily="34" charset="0"/>
                <a:ea typeface="Calibri" pitchFamily="34" charset="-122"/>
                <a:cs typeface="Calibri" pitchFamily="34" charset="-120"/>
              </a:rPr>
              <a:t>IntelliShell – AI-Based Smart Linux Command Shell</a:t>
            </a:r>
            <a:endParaRPr lang="en-US" sz="900" dirty="0"/>
          </a:p>
        </p:txBody>
      </p:sp>
      <p:sp>
        <p:nvSpPr>
          <p:cNvPr id="32" name="Text 30"/>
          <p:cNvSpPr/>
          <p:nvPr/>
        </p:nvSpPr>
        <p:spPr>
          <a:xfrm>
            <a:off x="11612880" y="6510528"/>
            <a:ext cx="36576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lgn="l">
              <a:buNone/>
            </a:pPr>
            <a:r>
              <a:rPr lang="en-US" sz="3200" b="1" dirty="0">
                <a:solidFill>
                  <a:srgbClr val="0B3D46"/>
                </a:solidFill>
                <a:latin typeface="Cambria" pitchFamily="34" charset="0"/>
                <a:ea typeface="Cambria" pitchFamily="34" charset="-122"/>
                <a:cs typeface="Cambria" pitchFamily="34" charset="-120"/>
              </a:rPr>
              <a:t>Hardware and Software Requirements</a:t>
            </a:r>
            <a:endParaRPr lang="en-US" sz="3200" dirty="0"/>
          </a:p>
        </p:txBody>
      </p:sp>
      <p:sp>
        <p:nvSpPr>
          <p:cNvPr id="3" name="Shape 1"/>
          <p:cNvSpPr/>
          <p:nvPr/>
        </p:nvSpPr>
        <p:spPr>
          <a:xfrm>
            <a:off x="548640" y="1554480"/>
            <a:ext cx="5349240" cy="502920"/>
          </a:xfrm>
          <a:prstGeom prst="roundRect">
            <a:avLst>
              <a:gd name="adj" fmla="val 14545"/>
            </a:avLst>
          </a:prstGeom>
          <a:solidFill>
            <a:srgbClr val="1C7293"/>
          </a:solidFill>
          <a:ln/>
        </p:spPr>
        <p:txBody>
          <a:bodyPr/>
          <a:lstStyle/>
          <a:p>
            <a:endParaRPr lang="en-IN"/>
          </a:p>
        </p:txBody>
      </p:sp>
      <p:sp>
        <p:nvSpPr>
          <p:cNvPr id="4" name="Text 2"/>
          <p:cNvSpPr/>
          <p:nvPr/>
        </p:nvSpPr>
        <p:spPr>
          <a:xfrm>
            <a:off x="548640" y="1554480"/>
            <a:ext cx="534924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Hardware Requirements</a:t>
            </a:r>
            <a:endParaRPr lang="en-US" sz="1500" dirty="0"/>
          </a:p>
        </p:txBody>
      </p:sp>
      <p:sp>
        <p:nvSpPr>
          <p:cNvPr id="5" name="Shape 3"/>
          <p:cNvSpPr/>
          <p:nvPr/>
        </p:nvSpPr>
        <p:spPr>
          <a:xfrm>
            <a:off x="6263640" y="1554480"/>
            <a:ext cx="5349240" cy="502920"/>
          </a:xfrm>
          <a:prstGeom prst="roundRect">
            <a:avLst>
              <a:gd name="adj" fmla="val 14545"/>
            </a:avLst>
          </a:prstGeom>
          <a:solidFill>
            <a:srgbClr val="0B3D46"/>
          </a:solidFill>
          <a:ln/>
        </p:spPr>
        <p:txBody>
          <a:bodyPr/>
          <a:lstStyle/>
          <a:p>
            <a:endParaRPr lang="en-IN"/>
          </a:p>
        </p:txBody>
      </p:sp>
      <p:sp>
        <p:nvSpPr>
          <p:cNvPr id="6" name="Text 4"/>
          <p:cNvSpPr/>
          <p:nvPr/>
        </p:nvSpPr>
        <p:spPr>
          <a:xfrm>
            <a:off x="6263640" y="1554480"/>
            <a:ext cx="534924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Software Requirements</a:t>
            </a:r>
            <a:endParaRPr lang="en-US" sz="1500" dirty="0"/>
          </a:p>
        </p:txBody>
      </p:sp>
      <p:sp>
        <p:nvSpPr>
          <p:cNvPr id="7" name="Shape 5"/>
          <p:cNvSpPr/>
          <p:nvPr/>
        </p:nvSpPr>
        <p:spPr>
          <a:xfrm>
            <a:off x="548640" y="2240280"/>
            <a:ext cx="5349240" cy="713232"/>
          </a:xfrm>
          <a:prstGeom prst="rect">
            <a:avLst/>
          </a:prstGeom>
          <a:solidFill>
            <a:srgbClr val="EAF3F5"/>
          </a:solidFill>
          <a:ln/>
        </p:spPr>
        <p:txBody>
          <a:bodyPr/>
          <a:lstStyle/>
          <a:p>
            <a:endParaRPr lang="en-IN"/>
          </a:p>
        </p:txBody>
      </p:sp>
      <p:sp>
        <p:nvSpPr>
          <p:cNvPr id="8" name="Text 6"/>
          <p:cNvSpPr/>
          <p:nvPr/>
        </p:nvSpPr>
        <p:spPr>
          <a:xfrm>
            <a:off x="731520" y="2240280"/>
            <a:ext cx="4983480" cy="310896"/>
          </a:xfrm>
          <a:prstGeom prst="rect">
            <a:avLst/>
          </a:prstGeom>
          <a:noFill/>
          <a:ln/>
        </p:spPr>
        <p:txBody>
          <a:bodyPr wrap="square" lIns="0" tIns="0" rIns="0" bIns="0" rtlCol="0" anchor="b"/>
          <a:lstStyle/>
          <a:p>
            <a:pPr marL="0" indent="0">
              <a:buNone/>
            </a:pPr>
            <a:r>
              <a:rPr lang="en-US" sz="1250" b="1" dirty="0">
                <a:solidFill>
                  <a:srgbClr val="0B3D46"/>
                </a:solidFill>
                <a:latin typeface="Calibri" pitchFamily="34" charset="0"/>
                <a:ea typeface="Calibri" pitchFamily="34" charset="-122"/>
                <a:cs typeface="Calibri" pitchFamily="34" charset="-120"/>
              </a:rPr>
              <a:t>Processor</a:t>
            </a:r>
            <a:endParaRPr lang="en-US" sz="1250" dirty="0"/>
          </a:p>
        </p:txBody>
      </p:sp>
      <p:sp>
        <p:nvSpPr>
          <p:cNvPr id="9" name="Text 7"/>
          <p:cNvSpPr/>
          <p:nvPr/>
        </p:nvSpPr>
        <p:spPr>
          <a:xfrm>
            <a:off x="731520" y="2532888"/>
            <a:ext cx="4983480" cy="365760"/>
          </a:xfrm>
          <a:prstGeom prst="rect">
            <a:avLst/>
          </a:prstGeom>
          <a:noFill/>
          <a:ln/>
        </p:spPr>
        <p:txBody>
          <a:bodyPr wrap="square" lIns="0" tIns="0" rIns="0" bIns="0" rtlCol="0" anchor="t"/>
          <a:lstStyle/>
          <a:p>
            <a:pPr marL="0" indent="0">
              <a:buNone/>
            </a:pPr>
            <a:r>
              <a:rPr lang="en-US" sz="1200" dirty="0">
                <a:solidFill>
                  <a:srgbClr val="212121"/>
                </a:solidFill>
                <a:latin typeface="Calibri" pitchFamily="34" charset="0"/>
                <a:ea typeface="Calibri" pitchFamily="34" charset="-122"/>
                <a:cs typeface="Calibri" pitchFamily="34" charset="-120"/>
              </a:rPr>
              <a:t>Dual-core 2.0 GHz or higher</a:t>
            </a:r>
            <a:endParaRPr lang="en-US" sz="1200" dirty="0"/>
          </a:p>
        </p:txBody>
      </p:sp>
      <p:sp>
        <p:nvSpPr>
          <p:cNvPr id="10" name="Shape 8"/>
          <p:cNvSpPr/>
          <p:nvPr/>
        </p:nvSpPr>
        <p:spPr>
          <a:xfrm>
            <a:off x="548640" y="2953512"/>
            <a:ext cx="5349240" cy="713232"/>
          </a:xfrm>
          <a:prstGeom prst="rect">
            <a:avLst/>
          </a:prstGeom>
          <a:solidFill>
            <a:srgbClr val="FFFFFF"/>
          </a:solidFill>
          <a:ln/>
        </p:spPr>
        <p:txBody>
          <a:bodyPr/>
          <a:lstStyle/>
          <a:p>
            <a:endParaRPr lang="en-IN"/>
          </a:p>
        </p:txBody>
      </p:sp>
      <p:sp>
        <p:nvSpPr>
          <p:cNvPr id="11" name="Text 9"/>
          <p:cNvSpPr/>
          <p:nvPr/>
        </p:nvSpPr>
        <p:spPr>
          <a:xfrm>
            <a:off x="731520" y="2953512"/>
            <a:ext cx="4983480" cy="310896"/>
          </a:xfrm>
          <a:prstGeom prst="rect">
            <a:avLst/>
          </a:prstGeom>
          <a:noFill/>
          <a:ln/>
        </p:spPr>
        <p:txBody>
          <a:bodyPr wrap="square" lIns="0" tIns="0" rIns="0" bIns="0" rtlCol="0" anchor="b"/>
          <a:lstStyle/>
          <a:p>
            <a:pPr marL="0" indent="0">
              <a:buNone/>
            </a:pPr>
            <a:r>
              <a:rPr lang="en-US" sz="1250" b="1" dirty="0">
                <a:solidFill>
                  <a:srgbClr val="0B3D46"/>
                </a:solidFill>
                <a:latin typeface="Calibri" pitchFamily="34" charset="0"/>
                <a:ea typeface="Calibri" pitchFamily="34" charset="-122"/>
                <a:cs typeface="Calibri" pitchFamily="34" charset="-120"/>
              </a:rPr>
              <a:t>RAM</a:t>
            </a:r>
            <a:endParaRPr lang="en-US" sz="1250" dirty="0"/>
          </a:p>
        </p:txBody>
      </p:sp>
      <p:sp>
        <p:nvSpPr>
          <p:cNvPr id="12" name="Text 10"/>
          <p:cNvSpPr/>
          <p:nvPr/>
        </p:nvSpPr>
        <p:spPr>
          <a:xfrm>
            <a:off x="731520" y="3246120"/>
            <a:ext cx="4983480" cy="365760"/>
          </a:xfrm>
          <a:prstGeom prst="rect">
            <a:avLst/>
          </a:prstGeom>
          <a:noFill/>
          <a:ln/>
        </p:spPr>
        <p:txBody>
          <a:bodyPr wrap="square" lIns="0" tIns="0" rIns="0" bIns="0" rtlCol="0" anchor="t"/>
          <a:lstStyle/>
          <a:p>
            <a:pPr marL="0" indent="0">
              <a:buNone/>
            </a:pPr>
            <a:r>
              <a:rPr lang="en-US" sz="1200" dirty="0">
                <a:solidFill>
                  <a:srgbClr val="212121"/>
                </a:solidFill>
                <a:latin typeface="Calibri" pitchFamily="34" charset="0"/>
                <a:ea typeface="Calibri" pitchFamily="34" charset="-122"/>
                <a:cs typeface="Calibri" pitchFamily="34" charset="-120"/>
              </a:rPr>
              <a:t>8 GB minimum (16 GB recommended)</a:t>
            </a:r>
            <a:endParaRPr lang="en-US" sz="1200" dirty="0"/>
          </a:p>
        </p:txBody>
      </p:sp>
      <p:sp>
        <p:nvSpPr>
          <p:cNvPr id="13" name="Shape 11"/>
          <p:cNvSpPr/>
          <p:nvPr/>
        </p:nvSpPr>
        <p:spPr>
          <a:xfrm>
            <a:off x="548640" y="3666744"/>
            <a:ext cx="5349240" cy="713232"/>
          </a:xfrm>
          <a:prstGeom prst="rect">
            <a:avLst/>
          </a:prstGeom>
          <a:solidFill>
            <a:srgbClr val="EAF3F5"/>
          </a:solidFill>
          <a:ln/>
        </p:spPr>
        <p:txBody>
          <a:bodyPr/>
          <a:lstStyle/>
          <a:p>
            <a:endParaRPr lang="en-IN"/>
          </a:p>
        </p:txBody>
      </p:sp>
      <p:sp>
        <p:nvSpPr>
          <p:cNvPr id="14" name="Text 12"/>
          <p:cNvSpPr/>
          <p:nvPr/>
        </p:nvSpPr>
        <p:spPr>
          <a:xfrm>
            <a:off x="731520" y="3666744"/>
            <a:ext cx="4983480" cy="310896"/>
          </a:xfrm>
          <a:prstGeom prst="rect">
            <a:avLst/>
          </a:prstGeom>
          <a:noFill/>
          <a:ln/>
        </p:spPr>
        <p:txBody>
          <a:bodyPr wrap="square" lIns="0" tIns="0" rIns="0" bIns="0" rtlCol="0" anchor="b"/>
          <a:lstStyle/>
          <a:p>
            <a:pPr marL="0" indent="0">
              <a:buNone/>
            </a:pPr>
            <a:r>
              <a:rPr lang="en-US" sz="1250" b="1" dirty="0">
                <a:solidFill>
                  <a:srgbClr val="0B3D46"/>
                </a:solidFill>
                <a:latin typeface="Calibri" pitchFamily="34" charset="0"/>
                <a:ea typeface="Calibri" pitchFamily="34" charset="-122"/>
                <a:cs typeface="Calibri" pitchFamily="34" charset="-120"/>
              </a:rPr>
              <a:t>Storage</a:t>
            </a:r>
            <a:endParaRPr lang="en-US" sz="1250" dirty="0"/>
          </a:p>
        </p:txBody>
      </p:sp>
      <p:sp>
        <p:nvSpPr>
          <p:cNvPr id="15" name="Text 13"/>
          <p:cNvSpPr/>
          <p:nvPr/>
        </p:nvSpPr>
        <p:spPr>
          <a:xfrm>
            <a:off x="731520" y="3959352"/>
            <a:ext cx="4983480" cy="365760"/>
          </a:xfrm>
          <a:prstGeom prst="rect">
            <a:avLst/>
          </a:prstGeom>
          <a:noFill/>
          <a:ln/>
        </p:spPr>
        <p:txBody>
          <a:bodyPr wrap="square" lIns="0" tIns="0" rIns="0" bIns="0" rtlCol="0" anchor="t"/>
          <a:lstStyle/>
          <a:p>
            <a:pPr marL="0" indent="0">
              <a:buNone/>
            </a:pPr>
            <a:r>
              <a:rPr lang="en-US" sz="1200" dirty="0">
                <a:solidFill>
                  <a:srgbClr val="212121"/>
                </a:solidFill>
                <a:latin typeface="Calibri" pitchFamily="34" charset="0"/>
                <a:ea typeface="Calibri" pitchFamily="34" charset="-122"/>
                <a:cs typeface="Calibri" pitchFamily="34" charset="-120"/>
              </a:rPr>
              <a:t>10 GB free disk space</a:t>
            </a:r>
            <a:endParaRPr lang="en-US" sz="1200" dirty="0"/>
          </a:p>
        </p:txBody>
      </p:sp>
      <p:sp>
        <p:nvSpPr>
          <p:cNvPr id="16" name="Shape 14"/>
          <p:cNvSpPr/>
          <p:nvPr/>
        </p:nvSpPr>
        <p:spPr>
          <a:xfrm>
            <a:off x="548640" y="4379976"/>
            <a:ext cx="5349240" cy="713232"/>
          </a:xfrm>
          <a:prstGeom prst="rect">
            <a:avLst/>
          </a:prstGeom>
          <a:solidFill>
            <a:srgbClr val="FFFFFF"/>
          </a:solidFill>
          <a:ln/>
        </p:spPr>
        <p:txBody>
          <a:bodyPr/>
          <a:lstStyle/>
          <a:p>
            <a:endParaRPr lang="en-IN"/>
          </a:p>
        </p:txBody>
      </p:sp>
      <p:sp>
        <p:nvSpPr>
          <p:cNvPr id="17" name="Text 15"/>
          <p:cNvSpPr/>
          <p:nvPr/>
        </p:nvSpPr>
        <p:spPr>
          <a:xfrm>
            <a:off x="731520" y="4379976"/>
            <a:ext cx="4983480" cy="310896"/>
          </a:xfrm>
          <a:prstGeom prst="rect">
            <a:avLst/>
          </a:prstGeom>
          <a:noFill/>
          <a:ln/>
        </p:spPr>
        <p:txBody>
          <a:bodyPr wrap="square" lIns="0" tIns="0" rIns="0" bIns="0" rtlCol="0" anchor="b"/>
          <a:lstStyle/>
          <a:p>
            <a:pPr marL="0" indent="0">
              <a:buNone/>
            </a:pPr>
            <a:r>
              <a:rPr lang="en-US" sz="1250" b="1" dirty="0">
                <a:solidFill>
                  <a:srgbClr val="0B3D46"/>
                </a:solidFill>
                <a:latin typeface="Calibri" pitchFamily="34" charset="0"/>
                <a:ea typeface="Calibri" pitchFamily="34" charset="-122"/>
                <a:cs typeface="Calibri" pitchFamily="34" charset="-120"/>
              </a:rPr>
              <a:t>Internet</a:t>
            </a:r>
            <a:endParaRPr lang="en-US" sz="1250" dirty="0"/>
          </a:p>
        </p:txBody>
      </p:sp>
      <p:sp>
        <p:nvSpPr>
          <p:cNvPr id="18" name="Text 16"/>
          <p:cNvSpPr/>
          <p:nvPr/>
        </p:nvSpPr>
        <p:spPr>
          <a:xfrm>
            <a:off x="731520" y="4672584"/>
            <a:ext cx="4983480" cy="365760"/>
          </a:xfrm>
          <a:prstGeom prst="rect">
            <a:avLst/>
          </a:prstGeom>
          <a:noFill/>
          <a:ln/>
        </p:spPr>
        <p:txBody>
          <a:bodyPr wrap="square" lIns="0" tIns="0" rIns="0" bIns="0" rtlCol="0" anchor="t"/>
          <a:lstStyle/>
          <a:p>
            <a:pPr marL="0" indent="0">
              <a:buNone/>
            </a:pPr>
            <a:r>
              <a:rPr lang="en-US" sz="1200" dirty="0">
                <a:solidFill>
                  <a:srgbClr val="212121"/>
                </a:solidFill>
                <a:latin typeface="Calibri" pitchFamily="34" charset="0"/>
                <a:ea typeface="Calibri" pitchFamily="34" charset="-122"/>
                <a:cs typeface="Calibri" pitchFamily="34" charset="-120"/>
              </a:rPr>
              <a:t>Stable connection for AI model API calls</a:t>
            </a:r>
            <a:endParaRPr lang="en-US" sz="1200" dirty="0"/>
          </a:p>
        </p:txBody>
      </p:sp>
      <p:sp>
        <p:nvSpPr>
          <p:cNvPr id="19" name="Shape 17"/>
          <p:cNvSpPr/>
          <p:nvPr/>
        </p:nvSpPr>
        <p:spPr>
          <a:xfrm>
            <a:off x="6263640" y="2240280"/>
            <a:ext cx="5349240" cy="713232"/>
          </a:xfrm>
          <a:prstGeom prst="rect">
            <a:avLst/>
          </a:prstGeom>
          <a:solidFill>
            <a:srgbClr val="EAF3F5"/>
          </a:solidFill>
          <a:ln/>
        </p:spPr>
        <p:txBody>
          <a:bodyPr/>
          <a:lstStyle/>
          <a:p>
            <a:endParaRPr lang="en-IN"/>
          </a:p>
        </p:txBody>
      </p:sp>
      <p:sp>
        <p:nvSpPr>
          <p:cNvPr id="20" name="Text 18"/>
          <p:cNvSpPr/>
          <p:nvPr/>
        </p:nvSpPr>
        <p:spPr>
          <a:xfrm>
            <a:off x="6446520" y="2240280"/>
            <a:ext cx="4983480" cy="310896"/>
          </a:xfrm>
          <a:prstGeom prst="rect">
            <a:avLst/>
          </a:prstGeom>
          <a:noFill/>
          <a:ln/>
        </p:spPr>
        <p:txBody>
          <a:bodyPr wrap="square" lIns="0" tIns="0" rIns="0" bIns="0" rtlCol="0" anchor="b"/>
          <a:lstStyle/>
          <a:p>
            <a:pPr marL="0" indent="0">
              <a:buNone/>
            </a:pPr>
            <a:r>
              <a:rPr lang="en-US" sz="1250" b="1" dirty="0">
                <a:solidFill>
                  <a:srgbClr val="0B3D46"/>
                </a:solidFill>
                <a:latin typeface="Calibri" pitchFamily="34" charset="0"/>
                <a:ea typeface="Calibri" pitchFamily="34" charset="-122"/>
                <a:cs typeface="Calibri" pitchFamily="34" charset="-120"/>
              </a:rPr>
              <a:t>Operating System</a:t>
            </a:r>
            <a:endParaRPr lang="en-US" sz="1250" dirty="0"/>
          </a:p>
        </p:txBody>
      </p:sp>
      <p:sp>
        <p:nvSpPr>
          <p:cNvPr id="21" name="Text 19"/>
          <p:cNvSpPr/>
          <p:nvPr/>
        </p:nvSpPr>
        <p:spPr>
          <a:xfrm>
            <a:off x="6446520" y="2532888"/>
            <a:ext cx="4983480" cy="365760"/>
          </a:xfrm>
          <a:prstGeom prst="rect">
            <a:avLst/>
          </a:prstGeom>
          <a:noFill/>
          <a:ln/>
        </p:spPr>
        <p:txBody>
          <a:bodyPr wrap="square" lIns="0" tIns="0" rIns="0" bIns="0" rtlCol="0" anchor="t"/>
          <a:lstStyle/>
          <a:p>
            <a:pPr marL="0" indent="0">
              <a:buNone/>
            </a:pPr>
            <a:r>
              <a:rPr lang="en-US" sz="1200" dirty="0">
                <a:solidFill>
                  <a:srgbClr val="212121"/>
                </a:solidFill>
                <a:latin typeface="Calibri" pitchFamily="34" charset="0"/>
                <a:ea typeface="Calibri" pitchFamily="34" charset="-122"/>
                <a:cs typeface="Calibri" pitchFamily="34" charset="-120"/>
              </a:rPr>
              <a:t>Linux (Ubuntu 20.04 or later)</a:t>
            </a:r>
            <a:endParaRPr lang="en-US" sz="1200" dirty="0"/>
          </a:p>
        </p:txBody>
      </p:sp>
      <p:sp>
        <p:nvSpPr>
          <p:cNvPr id="22" name="Shape 20"/>
          <p:cNvSpPr/>
          <p:nvPr/>
        </p:nvSpPr>
        <p:spPr>
          <a:xfrm>
            <a:off x="6263640" y="2953512"/>
            <a:ext cx="5349240" cy="713232"/>
          </a:xfrm>
          <a:prstGeom prst="rect">
            <a:avLst/>
          </a:prstGeom>
          <a:solidFill>
            <a:srgbClr val="FFFFFF"/>
          </a:solidFill>
          <a:ln/>
        </p:spPr>
        <p:txBody>
          <a:bodyPr/>
          <a:lstStyle/>
          <a:p>
            <a:endParaRPr lang="en-IN"/>
          </a:p>
        </p:txBody>
      </p:sp>
      <p:sp>
        <p:nvSpPr>
          <p:cNvPr id="23" name="Text 21"/>
          <p:cNvSpPr/>
          <p:nvPr/>
        </p:nvSpPr>
        <p:spPr>
          <a:xfrm>
            <a:off x="6446520" y="2953512"/>
            <a:ext cx="4983480" cy="310896"/>
          </a:xfrm>
          <a:prstGeom prst="rect">
            <a:avLst/>
          </a:prstGeom>
          <a:noFill/>
          <a:ln/>
        </p:spPr>
        <p:txBody>
          <a:bodyPr wrap="square" lIns="0" tIns="0" rIns="0" bIns="0" rtlCol="0" anchor="b"/>
          <a:lstStyle/>
          <a:p>
            <a:pPr marL="0" indent="0">
              <a:buNone/>
            </a:pPr>
            <a:r>
              <a:rPr lang="en-US" sz="1250" b="1" dirty="0">
                <a:solidFill>
                  <a:srgbClr val="0B3D46"/>
                </a:solidFill>
                <a:latin typeface="Calibri" pitchFamily="34" charset="0"/>
                <a:ea typeface="Calibri" pitchFamily="34" charset="-122"/>
                <a:cs typeface="Calibri" pitchFamily="34" charset="-120"/>
              </a:rPr>
              <a:t>Shell</a:t>
            </a:r>
            <a:endParaRPr lang="en-US" sz="1250" dirty="0"/>
          </a:p>
        </p:txBody>
      </p:sp>
      <p:sp>
        <p:nvSpPr>
          <p:cNvPr id="24" name="Text 22"/>
          <p:cNvSpPr/>
          <p:nvPr/>
        </p:nvSpPr>
        <p:spPr>
          <a:xfrm>
            <a:off x="6446520" y="3246120"/>
            <a:ext cx="4983480" cy="365760"/>
          </a:xfrm>
          <a:prstGeom prst="rect">
            <a:avLst/>
          </a:prstGeom>
          <a:noFill/>
          <a:ln/>
        </p:spPr>
        <p:txBody>
          <a:bodyPr wrap="square" lIns="0" tIns="0" rIns="0" bIns="0" rtlCol="0" anchor="t"/>
          <a:lstStyle/>
          <a:p>
            <a:pPr marL="0" indent="0">
              <a:buNone/>
            </a:pPr>
            <a:r>
              <a:rPr lang="en-US" sz="1200" dirty="0">
                <a:solidFill>
                  <a:srgbClr val="212121"/>
                </a:solidFill>
                <a:latin typeface="Calibri" pitchFamily="34" charset="0"/>
                <a:ea typeface="Calibri" pitchFamily="34" charset="-122"/>
                <a:cs typeface="Calibri" pitchFamily="34" charset="-120"/>
              </a:rPr>
              <a:t>Bash / Zsh</a:t>
            </a:r>
            <a:endParaRPr lang="en-US" sz="1200" dirty="0"/>
          </a:p>
        </p:txBody>
      </p:sp>
      <p:sp>
        <p:nvSpPr>
          <p:cNvPr id="25" name="Shape 23"/>
          <p:cNvSpPr/>
          <p:nvPr/>
        </p:nvSpPr>
        <p:spPr>
          <a:xfrm>
            <a:off x="6263640" y="3666744"/>
            <a:ext cx="5349240" cy="713232"/>
          </a:xfrm>
          <a:prstGeom prst="rect">
            <a:avLst/>
          </a:prstGeom>
          <a:solidFill>
            <a:srgbClr val="EAF3F5"/>
          </a:solidFill>
          <a:ln/>
        </p:spPr>
        <p:txBody>
          <a:bodyPr/>
          <a:lstStyle/>
          <a:p>
            <a:endParaRPr lang="en-IN"/>
          </a:p>
        </p:txBody>
      </p:sp>
      <p:sp>
        <p:nvSpPr>
          <p:cNvPr id="26" name="Text 24"/>
          <p:cNvSpPr/>
          <p:nvPr/>
        </p:nvSpPr>
        <p:spPr>
          <a:xfrm>
            <a:off x="6446520" y="3666744"/>
            <a:ext cx="4983480" cy="310896"/>
          </a:xfrm>
          <a:prstGeom prst="rect">
            <a:avLst/>
          </a:prstGeom>
          <a:noFill/>
          <a:ln/>
        </p:spPr>
        <p:txBody>
          <a:bodyPr wrap="square" lIns="0" tIns="0" rIns="0" bIns="0" rtlCol="0" anchor="b"/>
          <a:lstStyle/>
          <a:p>
            <a:pPr marL="0" indent="0">
              <a:buNone/>
            </a:pPr>
            <a:r>
              <a:rPr lang="en-US" sz="1250" b="1" dirty="0">
                <a:solidFill>
                  <a:srgbClr val="0B3D46"/>
                </a:solidFill>
                <a:latin typeface="Calibri" pitchFamily="34" charset="0"/>
                <a:ea typeface="Calibri" pitchFamily="34" charset="-122"/>
                <a:cs typeface="Calibri" pitchFamily="34" charset="-120"/>
              </a:rPr>
              <a:t>Programming Language</a:t>
            </a:r>
            <a:endParaRPr lang="en-US" sz="1250" dirty="0"/>
          </a:p>
        </p:txBody>
      </p:sp>
      <p:sp>
        <p:nvSpPr>
          <p:cNvPr id="27" name="Text 25"/>
          <p:cNvSpPr/>
          <p:nvPr/>
        </p:nvSpPr>
        <p:spPr>
          <a:xfrm>
            <a:off x="6446520" y="3959352"/>
            <a:ext cx="4983480" cy="365760"/>
          </a:xfrm>
          <a:prstGeom prst="rect">
            <a:avLst/>
          </a:prstGeom>
          <a:noFill/>
          <a:ln/>
        </p:spPr>
        <p:txBody>
          <a:bodyPr wrap="square" lIns="0" tIns="0" rIns="0" bIns="0" rtlCol="0" anchor="t"/>
          <a:lstStyle/>
          <a:p>
            <a:pPr marL="0" indent="0">
              <a:buNone/>
            </a:pPr>
            <a:r>
              <a:rPr lang="en-US" sz="1200" dirty="0">
                <a:solidFill>
                  <a:srgbClr val="212121"/>
                </a:solidFill>
                <a:latin typeface="Calibri" pitchFamily="34" charset="0"/>
                <a:ea typeface="Calibri" pitchFamily="34" charset="-122"/>
                <a:cs typeface="Calibri" pitchFamily="34" charset="-120"/>
              </a:rPr>
              <a:t>Python 3.9+</a:t>
            </a:r>
            <a:endParaRPr lang="en-US" sz="1200" dirty="0"/>
          </a:p>
        </p:txBody>
      </p:sp>
      <p:sp>
        <p:nvSpPr>
          <p:cNvPr id="28" name="Shape 26"/>
          <p:cNvSpPr/>
          <p:nvPr/>
        </p:nvSpPr>
        <p:spPr>
          <a:xfrm>
            <a:off x="6263640" y="4379976"/>
            <a:ext cx="5349240" cy="713232"/>
          </a:xfrm>
          <a:prstGeom prst="rect">
            <a:avLst/>
          </a:prstGeom>
          <a:solidFill>
            <a:srgbClr val="FFFFFF"/>
          </a:solidFill>
          <a:ln/>
        </p:spPr>
        <p:txBody>
          <a:bodyPr/>
          <a:lstStyle/>
          <a:p>
            <a:endParaRPr lang="en-IN"/>
          </a:p>
        </p:txBody>
      </p:sp>
      <p:sp>
        <p:nvSpPr>
          <p:cNvPr id="29" name="Text 27"/>
          <p:cNvSpPr/>
          <p:nvPr/>
        </p:nvSpPr>
        <p:spPr>
          <a:xfrm>
            <a:off x="6446520" y="4379976"/>
            <a:ext cx="4983480" cy="310896"/>
          </a:xfrm>
          <a:prstGeom prst="rect">
            <a:avLst/>
          </a:prstGeom>
          <a:noFill/>
          <a:ln/>
        </p:spPr>
        <p:txBody>
          <a:bodyPr wrap="square" lIns="0" tIns="0" rIns="0" bIns="0" rtlCol="0" anchor="b"/>
          <a:lstStyle/>
          <a:p>
            <a:pPr marL="0" indent="0">
              <a:buNone/>
            </a:pPr>
            <a:r>
              <a:rPr lang="en-US" sz="1250" b="1" dirty="0">
                <a:solidFill>
                  <a:srgbClr val="0B3D46"/>
                </a:solidFill>
                <a:latin typeface="Calibri" pitchFamily="34" charset="0"/>
                <a:ea typeface="Calibri" pitchFamily="34" charset="-122"/>
                <a:cs typeface="Calibri" pitchFamily="34" charset="-120"/>
              </a:rPr>
              <a:t>AI / NLP Engine</a:t>
            </a:r>
            <a:endParaRPr lang="en-US" sz="1250" dirty="0"/>
          </a:p>
        </p:txBody>
      </p:sp>
      <p:sp>
        <p:nvSpPr>
          <p:cNvPr id="30" name="Text 28"/>
          <p:cNvSpPr/>
          <p:nvPr/>
        </p:nvSpPr>
        <p:spPr>
          <a:xfrm>
            <a:off x="6446520" y="4672584"/>
            <a:ext cx="4983480" cy="365760"/>
          </a:xfrm>
          <a:prstGeom prst="rect">
            <a:avLst/>
          </a:prstGeom>
          <a:noFill/>
          <a:ln/>
        </p:spPr>
        <p:txBody>
          <a:bodyPr wrap="square" lIns="0" tIns="0" rIns="0" bIns="0" rtlCol="0" anchor="t"/>
          <a:lstStyle/>
          <a:p>
            <a:pPr marL="0" indent="0">
              <a:buNone/>
            </a:pPr>
            <a:r>
              <a:rPr lang="en-US" sz="1200" dirty="0">
                <a:solidFill>
                  <a:srgbClr val="212121"/>
                </a:solidFill>
                <a:latin typeface="Calibri" pitchFamily="34" charset="0"/>
                <a:ea typeface="Calibri" pitchFamily="34" charset="-122"/>
                <a:cs typeface="Calibri" pitchFamily="34" charset="-120"/>
              </a:rPr>
              <a:t>LLM-based API (e.g., OpenAI / open-source model)</a:t>
            </a:r>
            <a:endParaRPr lang="en-US" sz="1200" dirty="0"/>
          </a:p>
        </p:txBody>
      </p:sp>
      <p:sp>
        <p:nvSpPr>
          <p:cNvPr id="31" name="Text 29"/>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5A5A5A"/>
                </a:solidFill>
                <a:latin typeface="Calibri" pitchFamily="34" charset="0"/>
                <a:ea typeface="Calibri" pitchFamily="34" charset="-122"/>
                <a:cs typeface="Calibri" pitchFamily="34" charset="-120"/>
              </a:rPr>
              <a:t>IntelliShell – AI-Based Smart Linux Command Shell</a:t>
            </a:r>
            <a:endParaRPr lang="en-US" sz="900" dirty="0"/>
          </a:p>
        </p:txBody>
      </p:sp>
      <p:sp>
        <p:nvSpPr>
          <p:cNvPr id="32" name="Text 30"/>
          <p:cNvSpPr/>
          <p:nvPr/>
        </p:nvSpPr>
        <p:spPr>
          <a:xfrm>
            <a:off x="11612880" y="6510528"/>
            <a:ext cx="36576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lgn="l">
              <a:buNone/>
            </a:pPr>
            <a:r>
              <a:rPr lang="en-US" sz="3200" b="1" dirty="0">
                <a:solidFill>
                  <a:srgbClr val="0B3D46"/>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10607040" y="5394960"/>
            <a:ext cx="2103120" cy="2103120"/>
          </a:xfrm>
          <a:prstGeom prst="ellipse">
            <a:avLst/>
          </a:prstGeom>
          <a:solidFill>
            <a:srgbClr val="EAF3F5"/>
          </a:solidFill>
          <a:ln/>
        </p:spPr>
        <p:txBody>
          <a:bodyPr/>
          <a:lstStyle/>
          <a:p>
            <a:endParaRPr lang="en-IN"/>
          </a:p>
        </p:txBody>
      </p:sp>
      <p:sp>
        <p:nvSpPr>
          <p:cNvPr id="4" name="Text 2"/>
          <p:cNvSpPr/>
          <p:nvPr/>
        </p:nvSpPr>
        <p:spPr>
          <a:xfrm>
            <a:off x="548640" y="1417320"/>
            <a:ext cx="11064240" cy="1371600"/>
          </a:xfrm>
          <a:prstGeom prst="rect">
            <a:avLst/>
          </a:prstGeom>
          <a:noFill/>
          <a:ln/>
        </p:spPr>
        <p:txBody>
          <a:bodyPr wrap="square" lIns="0" tIns="0" rIns="0" bIns="0" rtlCol="0" anchor="ctr"/>
          <a:lstStyle/>
          <a:p>
            <a:pPr marL="0" indent="0" algn="l">
              <a:lnSpc>
                <a:spcPct val="125000"/>
              </a:lnSpc>
              <a:buNone/>
            </a:pPr>
            <a:r>
              <a:rPr lang="en-US" sz="1600" dirty="0">
                <a:solidFill>
                  <a:srgbClr val="212121"/>
                </a:solidFill>
                <a:latin typeface="Calibri" pitchFamily="34" charset="0"/>
                <a:ea typeface="Calibri" pitchFamily="34" charset="-122"/>
                <a:cs typeface="Calibri" pitchFamily="34" charset="-120"/>
              </a:rPr>
              <a:t>IntelliShell reimagines the Linux terminal as a conversation rather than a syntax test. By combining natural-language understanding with a built-in safety layer, it lowers the barrier to entry while helping even experienced users work faster and with fewer costly mistakes.</a:t>
            </a:r>
            <a:endParaRPr lang="en-US" sz="1600" dirty="0"/>
          </a:p>
        </p:txBody>
      </p:sp>
      <p:sp>
        <p:nvSpPr>
          <p:cNvPr id="5" name="Shape 3"/>
          <p:cNvSpPr/>
          <p:nvPr/>
        </p:nvSpPr>
        <p:spPr>
          <a:xfrm>
            <a:off x="548640" y="3127248"/>
            <a:ext cx="109728" cy="109728"/>
          </a:xfrm>
          <a:prstGeom prst="ellipse">
            <a:avLst/>
          </a:prstGeom>
          <a:solidFill>
            <a:srgbClr val="1C7293"/>
          </a:solidFill>
          <a:ln/>
        </p:spPr>
        <p:txBody>
          <a:bodyPr/>
          <a:lstStyle/>
          <a:p>
            <a:endParaRPr lang="en-IN"/>
          </a:p>
        </p:txBody>
      </p:sp>
      <p:sp>
        <p:nvSpPr>
          <p:cNvPr id="6" name="Text 4"/>
          <p:cNvSpPr/>
          <p:nvPr/>
        </p:nvSpPr>
        <p:spPr>
          <a:xfrm>
            <a:off x="868680" y="2980944"/>
            <a:ext cx="10424160" cy="457200"/>
          </a:xfrm>
          <a:prstGeom prst="rect">
            <a:avLst/>
          </a:prstGeom>
          <a:noFill/>
          <a:ln/>
        </p:spPr>
        <p:txBody>
          <a:bodyPr wrap="square" lIns="0" tIns="0" rIns="0" bIns="0" rtlCol="0" anchor="ctr"/>
          <a:lstStyle/>
          <a:p>
            <a:pPr marL="0" indent="0">
              <a:buNone/>
            </a:pPr>
            <a:r>
              <a:rPr lang="en-US" sz="1500" dirty="0">
                <a:solidFill>
                  <a:srgbClr val="212121"/>
                </a:solidFill>
                <a:latin typeface="Calibri" pitchFamily="34" charset="0"/>
                <a:ea typeface="Calibri" pitchFamily="34" charset="-122"/>
                <a:cs typeface="Calibri" pitchFamily="34" charset="-120"/>
              </a:rPr>
              <a:t>Makes the Linux command line accessible to beginners and non-technical users</a:t>
            </a:r>
            <a:endParaRPr lang="en-US" sz="1500" dirty="0"/>
          </a:p>
        </p:txBody>
      </p:sp>
      <p:sp>
        <p:nvSpPr>
          <p:cNvPr id="7" name="Shape 5"/>
          <p:cNvSpPr/>
          <p:nvPr/>
        </p:nvSpPr>
        <p:spPr>
          <a:xfrm>
            <a:off x="548640" y="3694176"/>
            <a:ext cx="109728" cy="109728"/>
          </a:xfrm>
          <a:prstGeom prst="ellipse">
            <a:avLst/>
          </a:prstGeom>
          <a:solidFill>
            <a:srgbClr val="1C7293"/>
          </a:solidFill>
          <a:ln/>
        </p:spPr>
        <p:txBody>
          <a:bodyPr/>
          <a:lstStyle/>
          <a:p>
            <a:endParaRPr lang="en-IN"/>
          </a:p>
        </p:txBody>
      </p:sp>
      <p:sp>
        <p:nvSpPr>
          <p:cNvPr id="8" name="Text 6"/>
          <p:cNvSpPr/>
          <p:nvPr/>
        </p:nvSpPr>
        <p:spPr>
          <a:xfrm>
            <a:off x="868680" y="3547872"/>
            <a:ext cx="10424160" cy="457200"/>
          </a:xfrm>
          <a:prstGeom prst="rect">
            <a:avLst/>
          </a:prstGeom>
          <a:noFill/>
          <a:ln/>
        </p:spPr>
        <p:txBody>
          <a:bodyPr wrap="square" lIns="0" tIns="0" rIns="0" bIns="0" rtlCol="0" anchor="ctr"/>
          <a:lstStyle/>
          <a:p>
            <a:pPr marL="0" indent="0">
              <a:buNone/>
            </a:pPr>
            <a:r>
              <a:rPr lang="en-US" sz="1500" dirty="0">
                <a:solidFill>
                  <a:srgbClr val="212121"/>
                </a:solidFill>
                <a:latin typeface="Calibri" pitchFamily="34" charset="0"/>
                <a:ea typeface="Calibri" pitchFamily="34" charset="-122"/>
                <a:cs typeface="Calibri" pitchFamily="34" charset="-120"/>
              </a:rPr>
              <a:t>Reduces syntax errors and accidental, destructive operations</a:t>
            </a:r>
            <a:endParaRPr lang="en-US" sz="1500" dirty="0"/>
          </a:p>
        </p:txBody>
      </p:sp>
      <p:sp>
        <p:nvSpPr>
          <p:cNvPr id="9" name="Shape 7"/>
          <p:cNvSpPr/>
          <p:nvPr/>
        </p:nvSpPr>
        <p:spPr>
          <a:xfrm>
            <a:off x="548640" y="4261104"/>
            <a:ext cx="109728" cy="109728"/>
          </a:xfrm>
          <a:prstGeom prst="ellipse">
            <a:avLst/>
          </a:prstGeom>
          <a:solidFill>
            <a:srgbClr val="1C7293"/>
          </a:solidFill>
          <a:ln/>
        </p:spPr>
        <p:txBody>
          <a:bodyPr/>
          <a:lstStyle/>
          <a:p>
            <a:endParaRPr lang="en-IN"/>
          </a:p>
        </p:txBody>
      </p:sp>
      <p:sp>
        <p:nvSpPr>
          <p:cNvPr id="10" name="Text 8"/>
          <p:cNvSpPr/>
          <p:nvPr/>
        </p:nvSpPr>
        <p:spPr>
          <a:xfrm>
            <a:off x="868680" y="4114800"/>
            <a:ext cx="10424160" cy="457200"/>
          </a:xfrm>
          <a:prstGeom prst="rect">
            <a:avLst/>
          </a:prstGeom>
          <a:noFill/>
          <a:ln/>
        </p:spPr>
        <p:txBody>
          <a:bodyPr wrap="square" lIns="0" tIns="0" rIns="0" bIns="0" rtlCol="0" anchor="ctr"/>
          <a:lstStyle/>
          <a:p>
            <a:pPr marL="0" indent="0">
              <a:buNone/>
            </a:pPr>
            <a:r>
              <a:rPr lang="en-US" sz="1500" dirty="0">
                <a:solidFill>
                  <a:srgbClr val="212121"/>
                </a:solidFill>
                <a:latin typeface="Calibri" pitchFamily="34" charset="0"/>
                <a:ea typeface="Calibri" pitchFamily="34" charset="-122"/>
                <a:cs typeface="Calibri" pitchFamily="34" charset="-120"/>
              </a:rPr>
              <a:t>Speeds up everyday terminal work through natural-language commands</a:t>
            </a:r>
            <a:endParaRPr lang="en-US" sz="1500" dirty="0"/>
          </a:p>
        </p:txBody>
      </p:sp>
      <p:sp>
        <p:nvSpPr>
          <p:cNvPr id="11" name="Shape 9"/>
          <p:cNvSpPr/>
          <p:nvPr/>
        </p:nvSpPr>
        <p:spPr>
          <a:xfrm>
            <a:off x="548640" y="4828032"/>
            <a:ext cx="109728" cy="109728"/>
          </a:xfrm>
          <a:prstGeom prst="ellipse">
            <a:avLst/>
          </a:prstGeom>
          <a:solidFill>
            <a:srgbClr val="1C7293"/>
          </a:solidFill>
          <a:ln/>
        </p:spPr>
        <p:txBody>
          <a:bodyPr/>
          <a:lstStyle/>
          <a:p>
            <a:endParaRPr lang="en-IN"/>
          </a:p>
        </p:txBody>
      </p:sp>
      <p:sp>
        <p:nvSpPr>
          <p:cNvPr id="12" name="Text 10"/>
          <p:cNvSpPr/>
          <p:nvPr/>
        </p:nvSpPr>
        <p:spPr>
          <a:xfrm>
            <a:off x="868680" y="4681728"/>
            <a:ext cx="10424160" cy="457200"/>
          </a:xfrm>
          <a:prstGeom prst="rect">
            <a:avLst/>
          </a:prstGeom>
          <a:noFill/>
          <a:ln/>
        </p:spPr>
        <p:txBody>
          <a:bodyPr wrap="square" lIns="0" tIns="0" rIns="0" bIns="0" rtlCol="0" anchor="ctr"/>
          <a:lstStyle/>
          <a:p>
            <a:pPr marL="0" indent="0">
              <a:buNone/>
            </a:pPr>
            <a:r>
              <a:rPr lang="en-US" sz="1500" dirty="0">
                <a:solidFill>
                  <a:srgbClr val="212121"/>
                </a:solidFill>
                <a:latin typeface="Calibri" pitchFamily="34" charset="0"/>
                <a:ea typeface="Calibri" pitchFamily="34" charset="-122"/>
                <a:cs typeface="Calibri" pitchFamily="34" charset="-120"/>
              </a:rPr>
              <a:t>Lays the foundation for a smarter, safer command-line experience</a:t>
            </a:r>
            <a:endParaRPr lang="en-US" sz="1500" dirty="0"/>
          </a:p>
        </p:txBody>
      </p:sp>
      <p:sp>
        <p:nvSpPr>
          <p:cNvPr id="13" name="Text 11"/>
          <p:cNvSpPr/>
          <p:nvPr/>
        </p:nvSpPr>
        <p:spPr>
          <a:xfrm>
            <a:off x="548640" y="6510528"/>
            <a:ext cx="7315200" cy="274320"/>
          </a:xfrm>
          <a:prstGeom prst="rect">
            <a:avLst/>
          </a:prstGeom>
          <a:noFill/>
          <a:ln/>
        </p:spPr>
        <p:txBody>
          <a:bodyPr wrap="square" lIns="0" tIns="0" rIns="0" bIns="0" rtlCol="0" anchor="ctr"/>
          <a:lstStyle/>
          <a:p>
            <a:pPr marL="0" indent="0" algn="l">
              <a:buNone/>
            </a:pPr>
            <a:r>
              <a:rPr lang="en-US" sz="900" dirty="0">
                <a:solidFill>
                  <a:srgbClr val="5A5A5A"/>
                </a:solidFill>
                <a:latin typeface="Calibri" pitchFamily="34" charset="0"/>
                <a:ea typeface="Calibri" pitchFamily="34" charset="-122"/>
                <a:cs typeface="Calibri" pitchFamily="34" charset="-120"/>
              </a:rPr>
              <a:t>IntelliShell – AI-Based Smart Linux Command Shell</a:t>
            </a:r>
            <a:endParaRPr lang="en-US" sz="900" dirty="0"/>
          </a:p>
        </p:txBody>
      </p:sp>
      <p:sp>
        <p:nvSpPr>
          <p:cNvPr id="14" name="Text 12"/>
          <p:cNvSpPr/>
          <p:nvPr/>
        </p:nvSpPr>
        <p:spPr>
          <a:xfrm>
            <a:off x="11612880" y="6510528"/>
            <a:ext cx="36576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933</Words>
  <Application>Microsoft Office PowerPoint</Application>
  <PresentationFormat>Widescreen</PresentationFormat>
  <Paragraphs>162</Paragraphs>
  <Slides>11</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Pasham Meghana</cp:lastModifiedBy>
  <cp:revision>3</cp:revision>
  <dcterms:created xsi:type="dcterms:W3CDTF">2026-08-12T07:46:57Z</dcterms:created>
  <dcterms:modified xsi:type="dcterms:W3CDTF">2026-08-12T08:30:02Z</dcterms:modified>
</cp:coreProperties>
</file>